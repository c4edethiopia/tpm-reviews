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672" r:id="rId4"/>
  </p:sldMasterIdLst>
  <p:notesMasterIdLst>
    <p:notesMasterId r:id="rId30"/>
  </p:notesMasterIdLst>
  <p:handoutMasterIdLst>
    <p:handoutMasterId r:id="rId31"/>
  </p:handoutMasterIdLst>
  <p:sldIdLst>
    <p:sldId id="409" r:id="rId5"/>
    <p:sldId id="789" r:id="rId6"/>
    <p:sldId id="902" r:id="rId7"/>
    <p:sldId id="882" r:id="rId8"/>
    <p:sldId id="411" r:id="rId9"/>
    <p:sldId id="897" r:id="rId10"/>
    <p:sldId id="895" r:id="rId11"/>
    <p:sldId id="884" r:id="rId12"/>
    <p:sldId id="885" r:id="rId13"/>
    <p:sldId id="893" r:id="rId14"/>
    <p:sldId id="883" r:id="rId15"/>
    <p:sldId id="903" r:id="rId39"/>
    <p:sldId id="886" r:id="rId16"/>
    <p:sldId id="887" r:id="rId17"/>
    <p:sldId id="889" r:id="rId18"/>
    <p:sldId id="888" r:id="rId19"/>
    <p:sldId id="901" r:id="rId20"/>
    <p:sldId id="898" r:id="rId21"/>
    <p:sldId id="891" r:id="rId22"/>
    <p:sldId id="900" r:id="rId23"/>
    <p:sldId id="899" r:id="rId24"/>
    <p:sldId id="896" r:id="rId25"/>
    <p:sldId id="892" r:id="rId26"/>
    <p:sldId id="890" r:id="rId27"/>
    <p:sldId id="894" r:id="rId28"/>
    <p:sldId id="713" r:id="rId29"/>
  </p:sldIdLst>
  <p:sldSz cx="12192000" cy="6858000"/>
  <p:notesSz cx="6797675" cy="9874250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CEF313A-A3B5-60E5-E4FA-FCE261EA164F}" name="Cara Pang" initials="CP" userId="S::pang@c4ed.org::f52d0ddd-5091-45ff-ae63-5503537cd818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Franziska Satzinger" initials="FS" lastIdx="1" clrIdx="6">
    <p:extLst>
      <p:ext uri="{19B8F6BF-5375-455C-9EA6-DF929625EA0E}">
        <p15:presenceInfo xmlns:p15="http://schemas.microsoft.com/office/powerpoint/2012/main" userId="S::satzinger@c4ed.org::a68a67ba-dff8-4b92-b303-d8d6f7a7083d" providerId="AD"/>
      </p:ext>
    </p:extLst>
  </p:cmAuthor>
  <p:cmAuthor id="1" name="Atika Pasha" initials="AP" lastIdx="14" clrIdx="0">
    <p:extLst>
      <p:ext uri="{19B8F6BF-5375-455C-9EA6-DF929625EA0E}">
        <p15:presenceInfo xmlns:p15="http://schemas.microsoft.com/office/powerpoint/2012/main" userId="Atika Pasha" providerId="None"/>
      </p:ext>
    </p:extLst>
  </p:cmAuthor>
  <p:cmAuthor id="8" name="Cara Pang" initials="CP" lastIdx="2" clrIdx="7">
    <p:extLst>
      <p:ext uri="{19B8F6BF-5375-455C-9EA6-DF929625EA0E}">
        <p15:presenceInfo xmlns:p15="http://schemas.microsoft.com/office/powerpoint/2012/main" userId="S::pang@c4ed.org::f52d0ddd-5091-45ff-ae63-5503537cd818" providerId="AD"/>
      </p:ext>
    </p:extLst>
  </p:cmAuthor>
  <p:cmAuthor id="2" name="Giulia Montresor" initials="GM" lastIdx="6" clrIdx="1">
    <p:extLst>
      <p:ext uri="{19B8F6BF-5375-455C-9EA6-DF929625EA0E}">
        <p15:presenceInfo xmlns:p15="http://schemas.microsoft.com/office/powerpoint/2012/main" userId="S-1-12-1-1675018503-1177652372-2162503056-2296020694" providerId="AD"/>
      </p:ext>
    </p:extLst>
  </p:cmAuthor>
  <p:cmAuthor id="3" name="Nicholas Barton" initials="NB" lastIdx="32" clrIdx="2">
    <p:extLst>
      <p:ext uri="{19B8F6BF-5375-455C-9EA6-DF929625EA0E}">
        <p15:presenceInfo xmlns:p15="http://schemas.microsoft.com/office/powerpoint/2012/main" userId="S-1-12-1-2818520630-1297197165-617056396-2475306257" providerId="AD"/>
      </p:ext>
    </p:extLst>
  </p:cmAuthor>
  <p:cmAuthor id="4" name="Katharina Richert" initials="KR" lastIdx="1" clrIdx="3">
    <p:extLst>
      <p:ext uri="{19B8F6BF-5375-455C-9EA6-DF929625EA0E}">
        <p15:presenceInfo xmlns:p15="http://schemas.microsoft.com/office/powerpoint/2012/main" userId="Katharina Richert" providerId="None"/>
      </p:ext>
    </p:extLst>
  </p:cmAuthor>
  <p:cmAuthor id="5" name="Hajo Benning" initials="HB" lastIdx="1" clrIdx="4">
    <p:extLst>
      <p:ext uri="{19B8F6BF-5375-455C-9EA6-DF929625EA0E}">
        <p15:presenceInfo xmlns:p15="http://schemas.microsoft.com/office/powerpoint/2012/main" userId="S::benning@c4ed.org::a149906e-2a27-4703-91ba-39c122c03f9f" providerId="AD"/>
      </p:ext>
    </p:extLst>
  </p:cmAuthor>
  <p:cmAuthor id="6" name="Clara Nonnenkamp" initials="CN" lastIdx="9" clrIdx="5">
    <p:extLst>
      <p:ext uri="{19B8F6BF-5375-455C-9EA6-DF929625EA0E}">
        <p15:presenceInfo xmlns:p15="http://schemas.microsoft.com/office/powerpoint/2012/main" userId="S::nonnenkamp@c4ed.org::db1d34cd-3e1f-4580-a157-0a2d3863080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47B77"/>
    <a:srgbClr val="DC72C8"/>
    <a:srgbClr val="05A39F"/>
    <a:srgbClr val="F5FAF8"/>
    <a:srgbClr val="EDE9E9"/>
    <a:srgbClr val="FFAB65"/>
    <a:srgbClr val="FFB90C"/>
    <a:srgbClr val="FCC200"/>
    <a:srgbClr val="FFD7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B74E0A-F725-4AD2-AFD5-186977A398B1}" v="1" dt="2026-07-13T12:58:15.529"/>
    <p1510:client id="{F81CC351-AAAB-6241-9FA8-61D763AAA532}" v="124" dt="2026-07-12T14:59:11.9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ittlere Formatvorlage 4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C89EF96-8CEA-46FF-86C4-4CE0E7609802}" styleName="Helle Formatvorlage 3 - Akz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1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10"/>
        <p:guide pos="2141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1" Type="http://schemas.openxmlformats.org/officeDocument/2006/relationships/handoutMaster" Target="handoutMasters/handoutMaster1.xml"/><Relationship Id="rId32" Type="http://schemas.openxmlformats.org/officeDocument/2006/relationships/commentAuthors" Target="commentAuthors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37" Type="http://schemas.microsoft.com/office/2015/10/relationships/revisionInfo" Target="revisionInfo.xml"/><Relationship Id="rId38" Type="http://schemas.microsoft.com/office/2018/10/relationships/authors" Target="authors.xml"/><Relationship Id="rId39" Type="http://schemas.openxmlformats.org/officeDocument/2006/relationships/slide" Target="slides/slide2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45F13B-D94A-4F90-A43B-554F24D4C242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895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37895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38137E-5003-4566-8484-4607F5F688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7362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37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37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7D6FAC62-F6E1-4690-83B8-A7A8D3027081}" type="datetimeFigureOut">
              <a:rPr lang="de-DE" altLang="en-US"/>
              <a:pPr>
                <a:defRPr/>
              </a:pPr>
              <a:t>13.07.2026</a:t>
            </a:fld>
            <a:endParaRPr lang="de-DE" alt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80187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378950"/>
            <a:ext cx="2946400" cy="49371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fld id="{E00FC373-6E95-4446-8E7D-E71463C9FDA4}" type="slidenum">
              <a:rPr lang="de-DE" altLang="en-US"/>
              <a:pPr/>
              <a:t>‹#›</a:t>
            </a:fld>
            <a:endParaRPr lang="de-DE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Folienbildplatzhalt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09538" y="741363"/>
            <a:ext cx="6580187" cy="37020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izenplatzhalt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/>
              <a:t>Pictures can be adapted, e.g. you can take some from the project itself</a:t>
            </a:r>
          </a:p>
        </p:txBody>
      </p:sp>
      <p:sp>
        <p:nvSpPr>
          <p:cNvPr id="28676" name="Foliennummernplatzhalter 3"/>
          <p:cNvSpPr txBox="1">
            <a:spLocks noGrp="1"/>
          </p:cNvSpPr>
          <p:nvPr/>
        </p:nvSpPr>
        <p:spPr bwMode="auto">
          <a:xfrm>
            <a:off x="3849688" y="9378950"/>
            <a:ext cx="2946400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F1C7CA93-0213-4F4A-BD25-2AFA5713D8B4}" type="slidenum">
              <a:rPr lang="de-DE" altLang="en-US"/>
              <a:pPr algn="r" eaLnBrk="1" hangingPunct="1">
                <a:spcBef>
                  <a:spcPct val="0"/>
                </a:spcBef>
              </a:pPr>
              <a:t>1</a:t>
            </a:fld>
            <a:endParaRPr lang="de-DE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914400" y="3398839"/>
            <a:ext cx="10464800" cy="1587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6"/>
          <p:cNvSpPr/>
          <p:nvPr userDrawn="1"/>
        </p:nvSpPr>
        <p:spPr>
          <a:xfrm>
            <a:off x="0" y="1"/>
            <a:ext cx="12192000" cy="3651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>
              <a:solidFill>
                <a:srgbClr val="FFFFFF"/>
              </a:solidFill>
              <a:latin typeface="Cambria" panose="020405030504060302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371601"/>
            <a:ext cx="10464800" cy="1927225"/>
          </a:xfrm>
        </p:spPr>
        <p:txBody>
          <a:bodyPr anchor="b">
            <a:noAutofit/>
          </a:bodyPr>
          <a:lstStyle>
            <a:lvl1pPr>
              <a:defRPr sz="5400" cap="all" baseline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505200"/>
            <a:ext cx="85344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Source Sans Pro" panose="020B0503030403020204" pitchFamily="34" charset="0"/>
              </a:defRPr>
            </a:lvl1pPr>
          </a:lstStyle>
          <a:p>
            <a:fld id="{516D0D1E-2802-47E6-907E-692F9211CD0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13539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82880" indent="-182880">
              <a:buFont typeface="Wingdings" panose="05000000000000000000" pitchFamily="2" charset="2"/>
              <a:buChar char="§"/>
              <a:defRPr>
                <a:latin typeface="Century Gothic" panose="020B0502020202020204" pitchFamily="34" charset="0"/>
                <a:ea typeface="Source Sans Pro" panose="020B0503030403020204" pitchFamily="34" charset="0"/>
              </a:defRPr>
            </a:lvl1pPr>
            <a:lvl2pPr marL="457200" indent="-182880">
              <a:buFont typeface="Wingdings" panose="05000000000000000000" pitchFamily="2" charset="2"/>
              <a:buChar char="§"/>
              <a:defRPr>
                <a:latin typeface="Century Gothic" panose="020B0502020202020204" pitchFamily="34" charset="0"/>
                <a:ea typeface="Source Sans Pro" panose="020B0503030403020204" pitchFamily="34" charset="0"/>
              </a:defRPr>
            </a:lvl2pPr>
            <a:lvl3pPr marL="731520" indent="-182880">
              <a:buFont typeface="Wingdings" panose="05000000000000000000" pitchFamily="2" charset="2"/>
              <a:buChar char="§"/>
              <a:defRPr>
                <a:latin typeface="Century Gothic" panose="020B0502020202020204" pitchFamily="34" charset="0"/>
                <a:ea typeface="Source Sans Pro" panose="020B0503030403020204" pitchFamily="34" charset="0"/>
              </a:defRPr>
            </a:lvl3pPr>
            <a:lvl4pPr marL="1005840" indent="-182880">
              <a:buFont typeface="Wingdings" panose="05000000000000000000" pitchFamily="2" charset="2"/>
              <a:buChar char="§"/>
              <a:defRPr>
                <a:latin typeface="Century Gothic" panose="020B0502020202020204" pitchFamily="34" charset="0"/>
                <a:ea typeface="Source Sans Pro" panose="020B0503030403020204" pitchFamily="34" charset="0"/>
              </a:defRPr>
            </a:lvl4pPr>
            <a:lvl5pPr marL="1188720" indent="-137160">
              <a:buFont typeface="Wingdings" panose="05000000000000000000" pitchFamily="2" charset="2"/>
              <a:buChar char="§"/>
              <a:defRPr>
                <a:latin typeface="Century Gothic" panose="020B0502020202020204" pitchFamily="34" charset="0"/>
                <a:ea typeface="Source Sans Pro" panose="020B0503030403020204" pitchFamily="34" charset="0"/>
              </a:defRPr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Source Sans Pro" panose="020B0503030403020204" pitchFamily="34" charset="0"/>
              </a:defRPr>
            </a:lvl1pPr>
          </a:lstStyle>
          <a:p>
            <a:fld id="{DE6B2AB2-6265-4A33-A62E-6921C5AD1A87}" type="slidenum">
              <a:rPr lang="de-DE" altLang="en-US"/>
              <a:pPr/>
              <a:t>‹#›</a:t>
            </a:fld>
            <a:endParaRPr lang="de-DE" altLang="en-US"/>
          </a:p>
        </p:txBody>
      </p:sp>
      <p:sp>
        <p:nvSpPr>
          <p:cNvPr id="5" name="Datumsplatzhalt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r>
              <a:rPr lang="de-DE"/>
              <a:t>C4ED | Center for Evaluation and Development</a:t>
            </a:r>
          </a:p>
        </p:txBody>
      </p:sp>
      <p:pic>
        <p:nvPicPr>
          <p:cNvPr id="7" name="Picture 7" descr="C:\Users\cbarras\Desktop\Komm\Logo\Logo_C4ED_dt\Logo_C4ED_kurz_CMYK_L_dt.jpg">
            <a:extLst>
              <a:ext uri="{FF2B5EF4-FFF2-40B4-BE49-F238E27FC236}">
                <a16:creationId xmlns:a16="http://schemas.microsoft.com/office/drawing/2014/main" id="{C8B1845E-8BC7-440A-96C3-605F1E6E1DE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3385" y="6103939"/>
            <a:ext cx="1198033" cy="74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69353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6"/>
          <p:cNvCxnSpPr/>
          <p:nvPr/>
        </p:nvCxnSpPr>
        <p:spPr>
          <a:xfrm>
            <a:off x="975784" y="4598989"/>
            <a:ext cx="10464800" cy="1587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2" descr="C:\Users\cbarras\Desktop\Komm\Logo\Logo_C4ED_dt\Logo_C4ED_kurz_CMYK_L_dt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4467" y="6232526"/>
            <a:ext cx="1007533" cy="62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2362201"/>
            <a:ext cx="10363200" cy="2200275"/>
          </a:xfrm>
        </p:spPr>
        <p:txBody>
          <a:bodyPr anchor="b"/>
          <a:lstStyle>
            <a:lvl1pPr algn="l">
              <a:defRPr sz="4800" b="0" cap="all">
                <a:latin typeface="Century Gothic" panose="020B0502020202020204" pitchFamily="34" charset="0"/>
              </a:defRPr>
            </a:lvl1pPr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4626865"/>
            <a:ext cx="10363200" cy="1500187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Source Sans Pro" panose="020B0503030403020204" pitchFamily="34" charset="0"/>
              </a:defRPr>
            </a:lvl1pPr>
          </a:lstStyle>
          <a:p>
            <a:fld id="{14AF1FD1-878D-4C60-A585-FB6D509F8142}" type="slidenum">
              <a:rPr lang="de-DE" altLang="en-US"/>
              <a:pPr/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2610032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cbarras\Desktop\Komm\Logo\Logo_C4ED_dt\Logo_C4ED_kurz_CMYK_L_dt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4467" y="6232526"/>
            <a:ext cx="1007533" cy="62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73352"/>
            <a:ext cx="5384800" cy="4718304"/>
          </a:xfrm>
        </p:spPr>
        <p:txBody>
          <a:bodyPr/>
          <a:lstStyle>
            <a:lvl1pPr>
              <a:defRPr sz="2800">
                <a:latin typeface="Century Gothic" panose="020B0502020202020204" pitchFamily="34" charset="0"/>
              </a:defRPr>
            </a:lvl1pPr>
            <a:lvl2pPr>
              <a:defRPr sz="2400">
                <a:latin typeface="Century Gothic" panose="020B0502020202020204" pitchFamily="34" charset="0"/>
              </a:defRPr>
            </a:lvl2pPr>
            <a:lvl3pPr>
              <a:defRPr sz="2000">
                <a:latin typeface="Century Gothic" panose="020B0502020202020204" pitchFamily="34" charset="0"/>
              </a:defRPr>
            </a:lvl3pPr>
            <a:lvl4pPr>
              <a:defRPr sz="1800">
                <a:latin typeface="Century Gothic" panose="020B0502020202020204" pitchFamily="34" charset="0"/>
              </a:defRPr>
            </a:lvl4pPr>
            <a:lvl5pPr>
              <a:defRPr sz="1800">
                <a:latin typeface="Century Gothic" panose="020B0502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73352"/>
            <a:ext cx="5384800" cy="4718304"/>
          </a:xfrm>
        </p:spPr>
        <p:txBody>
          <a:bodyPr/>
          <a:lstStyle>
            <a:lvl1pPr>
              <a:defRPr sz="2800">
                <a:latin typeface="Century Gothic" panose="020B0502020202020204" pitchFamily="34" charset="0"/>
              </a:defRPr>
            </a:lvl1pPr>
            <a:lvl2pPr>
              <a:defRPr sz="2400">
                <a:latin typeface="Century Gothic" panose="020B0502020202020204" pitchFamily="34" charset="0"/>
              </a:defRPr>
            </a:lvl2pPr>
            <a:lvl3pPr>
              <a:defRPr sz="2000">
                <a:latin typeface="Century Gothic" panose="020B0502020202020204" pitchFamily="34" charset="0"/>
              </a:defRPr>
            </a:lvl3pPr>
            <a:lvl4pPr>
              <a:defRPr sz="1800">
                <a:latin typeface="Century Gothic" panose="020B0502020202020204" pitchFamily="34" charset="0"/>
              </a:defRPr>
            </a:lvl4pPr>
            <a:lvl5pPr>
              <a:defRPr sz="1800">
                <a:latin typeface="Century Gothic" panose="020B0502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0FCA620-BBE8-40D5-AEEC-A2407995D135}" type="slidenum">
              <a:rPr lang="de-DE" altLang="en-US"/>
              <a:pPr/>
              <a:t>‹#›</a:t>
            </a:fld>
            <a:endParaRPr lang="de-DE" altLang="en-US"/>
          </a:p>
        </p:txBody>
      </p:sp>
      <p:sp>
        <p:nvSpPr>
          <p:cNvPr id="9" name="Datumsplatzhalter 3">
            <a:extLst>
              <a:ext uri="{FF2B5EF4-FFF2-40B4-BE49-F238E27FC236}">
                <a16:creationId xmlns:a16="http://schemas.microsoft.com/office/drawing/2014/main" id="{1131B3CF-0493-47DB-8D39-96D4DE94941F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609600" y="19051"/>
            <a:ext cx="7791451" cy="385763"/>
          </a:xfr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r>
              <a:rPr lang="de-DE"/>
              <a:t>C4ED | Center for Evaluation and Development</a:t>
            </a:r>
          </a:p>
        </p:txBody>
      </p:sp>
    </p:spTree>
    <p:extLst>
      <p:ext uri="{BB962C8B-B14F-4D97-AF65-F5344CB8AC3E}">
        <p14:creationId xmlns:p14="http://schemas.microsoft.com/office/powerpoint/2010/main" val="3597045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10"/>
          <p:cNvCxnSpPr/>
          <p:nvPr/>
        </p:nvCxnSpPr>
        <p:spPr>
          <a:xfrm rot="5400000">
            <a:off x="3742796" y="4045480"/>
            <a:ext cx="4708525" cy="2117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 descr="C:\Users\cbarras\Desktop\Komm\Logo\Logo_C4ED_dt\Logo_C4ED_kurz_CMYK_L_dt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4467" y="6232526"/>
            <a:ext cx="1007533" cy="62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76400"/>
            <a:ext cx="524256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438400"/>
            <a:ext cx="52425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39840" y="1676400"/>
            <a:ext cx="524256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9840" y="2438400"/>
            <a:ext cx="52425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10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B9D4F4F-4810-4E46-BA73-93491DE24D05}" type="slidenum">
              <a:rPr lang="de-DE" altLang="en-US"/>
              <a:pPr/>
              <a:t>‹#›</a:t>
            </a:fld>
            <a:endParaRPr lang="de-DE" altLang="en-US"/>
          </a:p>
        </p:txBody>
      </p:sp>
      <p:sp>
        <p:nvSpPr>
          <p:cNvPr id="12" name="Datumsplatzhalter 3">
            <a:extLst>
              <a:ext uri="{FF2B5EF4-FFF2-40B4-BE49-F238E27FC236}">
                <a16:creationId xmlns:a16="http://schemas.microsoft.com/office/drawing/2014/main" id="{4AF97D68-3DD1-430A-9116-106E59B51195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609600" y="19051"/>
            <a:ext cx="7791451" cy="38576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C4ED | Center for Evaluation and Development</a:t>
            </a:r>
          </a:p>
        </p:txBody>
      </p:sp>
    </p:spTree>
    <p:extLst>
      <p:ext uri="{BB962C8B-B14F-4D97-AF65-F5344CB8AC3E}">
        <p14:creationId xmlns:p14="http://schemas.microsoft.com/office/powerpoint/2010/main" val="2786656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C:\Users\cbarras\Desktop\Komm\Logo\Logo_C4ED_dt\Logo_C4ED_kurz_CMYK_L_dt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4467" y="6232526"/>
            <a:ext cx="1007533" cy="62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FE4BA63-4481-4667-8035-EE966C08F267}" type="slidenum">
              <a:rPr lang="de-DE" altLang="en-US"/>
              <a:pPr/>
              <a:t>‹#›</a:t>
            </a:fld>
            <a:endParaRPr lang="de-DE" altLang="en-US"/>
          </a:p>
        </p:txBody>
      </p:sp>
      <p:sp>
        <p:nvSpPr>
          <p:cNvPr id="8" name="Datumsplatzhalter 3">
            <a:extLst>
              <a:ext uri="{FF2B5EF4-FFF2-40B4-BE49-F238E27FC236}">
                <a16:creationId xmlns:a16="http://schemas.microsoft.com/office/drawing/2014/main" id="{4BC11683-E313-4285-BA0B-FE5984E8A260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609600" y="19051"/>
            <a:ext cx="7791451" cy="38576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C4ED | Center for Evaluation and Development</a:t>
            </a:r>
          </a:p>
        </p:txBody>
      </p:sp>
    </p:spTree>
    <p:extLst>
      <p:ext uri="{BB962C8B-B14F-4D97-AF65-F5344CB8AC3E}">
        <p14:creationId xmlns:p14="http://schemas.microsoft.com/office/powerpoint/2010/main" val="3372489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587D263-0730-4FFA-9D1C-3F4780874A03}" type="slidenum">
              <a:rPr lang="de-DE" altLang="en-US"/>
              <a:pPr/>
              <a:t>‹#›</a:t>
            </a:fld>
            <a:endParaRPr lang="de-DE" altLang="en-US"/>
          </a:p>
        </p:txBody>
      </p:sp>
      <p:sp>
        <p:nvSpPr>
          <p:cNvPr id="5" name="Datumsplatzhalter 3">
            <a:extLst>
              <a:ext uri="{FF2B5EF4-FFF2-40B4-BE49-F238E27FC236}">
                <a16:creationId xmlns:a16="http://schemas.microsoft.com/office/drawing/2014/main" id="{E491CA81-F416-4F27-83E3-E699762F116B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609600" y="19051"/>
            <a:ext cx="7791451" cy="38576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C4ED | Center for Evaluation and Development</a:t>
            </a:r>
          </a:p>
        </p:txBody>
      </p:sp>
    </p:spTree>
    <p:extLst>
      <p:ext uri="{BB962C8B-B14F-4D97-AF65-F5344CB8AC3E}">
        <p14:creationId xmlns:p14="http://schemas.microsoft.com/office/powerpoint/2010/main" val="1964023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8"/>
          <p:cNvCxnSpPr/>
          <p:nvPr/>
        </p:nvCxnSpPr>
        <p:spPr>
          <a:xfrm rot="5400000">
            <a:off x="911754" y="3580343"/>
            <a:ext cx="5578475" cy="2117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92080"/>
            <a:ext cx="2852928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2400" y="792080"/>
            <a:ext cx="7620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2130553"/>
            <a:ext cx="2852928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DE43C6B-9A4C-4FC2-A6D4-F422CB430940}" type="slidenum">
              <a:rPr lang="de-DE" altLang="en-US"/>
              <a:pPr/>
              <a:t>‹#›</a:t>
            </a:fld>
            <a:endParaRPr lang="de-DE" altLang="en-US"/>
          </a:p>
        </p:txBody>
      </p:sp>
      <p:sp>
        <p:nvSpPr>
          <p:cNvPr id="9" name="Datumsplatzhalter 3">
            <a:extLst>
              <a:ext uri="{FF2B5EF4-FFF2-40B4-BE49-F238E27FC236}">
                <a16:creationId xmlns:a16="http://schemas.microsoft.com/office/drawing/2014/main" id="{96706063-C6CE-440F-88FF-B4C32F008098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609600" y="19051"/>
            <a:ext cx="7791451" cy="38576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err="1"/>
              <a:t>Section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464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92480"/>
            <a:ext cx="2856907" cy="126492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11480" y="838201"/>
            <a:ext cx="787252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133600"/>
            <a:ext cx="2852928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0"/>
          </p:nvPr>
        </p:nvSpPr>
        <p:spPr>
          <a:xfrm>
            <a:off x="5712885" y="19051"/>
            <a:ext cx="4345516" cy="3286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en-US"/>
              <a:t>Title of presentation</a:t>
            </a:r>
            <a:endParaRPr lang="de-DE" alt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B671E76-6798-48AD-99DB-6683C725C582}" type="slidenum">
              <a:rPr lang="de-DE" altLang="en-US"/>
              <a:pPr/>
              <a:t>‹#›</a:t>
            </a:fld>
            <a:endParaRPr lang="de-DE" alt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2"/>
          </p:nvPr>
        </p:nvSpPr>
        <p:spPr>
          <a:xfrm>
            <a:off x="609601" y="19051"/>
            <a:ext cx="4237567" cy="328613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>
              <a:defRPr/>
            </a:pPr>
            <a:r>
              <a:rPr lang="de-DE"/>
              <a:t>C4ED | Center </a:t>
            </a:r>
            <a:r>
              <a:rPr lang="de-DE" err="1"/>
              <a:t>for</a:t>
            </a:r>
            <a:r>
              <a:rPr lang="de-DE"/>
              <a:t> Evaluation </a:t>
            </a:r>
            <a:r>
              <a:rPr lang="de-DE" err="1"/>
              <a:t>and</a:t>
            </a:r>
            <a:r>
              <a:rPr lang="de-DE"/>
              <a:t> Development</a:t>
            </a:r>
          </a:p>
        </p:txBody>
      </p:sp>
    </p:spTree>
    <p:extLst>
      <p:ext uri="{BB962C8B-B14F-4D97-AF65-F5344CB8AC3E}">
        <p14:creationId xmlns:p14="http://schemas.microsoft.com/office/powerpoint/2010/main" val="4162851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5712885" y="19051"/>
            <a:ext cx="4345516" cy="3286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en-US"/>
              <a:t>Title of presentation</a:t>
            </a:r>
            <a:endParaRPr lang="de-DE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232E8D3-A3F1-4B57-892F-55FA6DDE7BAC}" type="slidenum">
              <a:rPr lang="de-DE" altLang="en-US"/>
              <a:pPr/>
              <a:t>‹#›</a:t>
            </a:fld>
            <a:endParaRPr lang="de-DE" altLang="en-US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2"/>
          </p:nvPr>
        </p:nvSpPr>
        <p:spPr>
          <a:xfrm>
            <a:off x="609601" y="19051"/>
            <a:ext cx="4237567" cy="328613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>
              <a:defRPr/>
            </a:pPr>
            <a:r>
              <a:rPr lang="de-DE"/>
              <a:t>C4ED | Center </a:t>
            </a:r>
            <a:r>
              <a:rPr lang="de-DE" err="1"/>
              <a:t>for</a:t>
            </a:r>
            <a:r>
              <a:rPr lang="de-DE"/>
              <a:t> Evaluation </a:t>
            </a:r>
            <a:r>
              <a:rPr lang="de-DE" err="1"/>
              <a:t>and</a:t>
            </a:r>
            <a:r>
              <a:rPr lang="de-DE"/>
              <a:t> Development</a:t>
            </a:r>
          </a:p>
        </p:txBody>
      </p:sp>
    </p:spTree>
    <p:extLst>
      <p:ext uri="{BB962C8B-B14F-4D97-AF65-F5344CB8AC3E}">
        <p14:creationId xmlns:p14="http://schemas.microsoft.com/office/powerpoint/2010/main" val="2286382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609600"/>
            <a:ext cx="2743200" cy="5867400"/>
          </a:xfrm>
        </p:spPr>
        <p:txBody>
          <a:bodyPr vert="eaVert" anchor="b"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8026400" cy="5867400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5712885" y="19051"/>
            <a:ext cx="4345516" cy="3286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en-US"/>
              <a:t>Title of presentation</a:t>
            </a:r>
            <a:endParaRPr lang="de-DE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C1E7B3D-754F-436C-95F4-6E0FD22C1E14}" type="slidenum">
              <a:rPr lang="de-DE" altLang="en-US"/>
              <a:pPr/>
              <a:t>‹#›</a:t>
            </a:fld>
            <a:endParaRPr lang="de-DE" altLang="en-US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2"/>
          </p:nvPr>
        </p:nvSpPr>
        <p:spPr>
          <a:xfrm>
            <a:off x="609601" y="4763"/>
            <a:ext cx="4237567" cy="328612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>
              <a:defRPr/>
            </a:pPr>
            <a:r>
              <a:rPr lang="de-DE"/>
              <a:t>C4ED | Center </a:t>
            </a:r>
            <a:r>
              <a:rPr lang="de-DE" err="1"/>
              <a:t>for</a:t>
            </a:r>
            <a:r>
              <a:rPr lang="de-DE"/>
              <a:t> Evaluation </a:t>
            </a:r>
            <a:r>
              <a:rPr lang="de-DE" err="1"/>
              <a:t>and</a:t>
            </a:r>
            <a:r>
              <a:rPr lang="de-DE"/>
              <a:t> Development</a:t>
            </a:r>
          </a:p>
        </p:txBody>
      </p:sp>
    </p:spTree>
    <p:extLst>
      <p:ext uri="{BB962C8B-B14F-4D97-AF65-F5344CB8AC3E}">
        <p14:creationId xmlns:p14="http://schemas.microsoft.com/office/powerpoint/2010/main" val="84304255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663"/>
            <a:ext cx="12192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>
              <a:solidFill>
                <a:srgbClr val="FFFFFF"/>
              </a:solidFill>
              <a:latin typeface="Cambria" panose="02040503050406030204" pitchFamily="18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9906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de-DE" altLang="en-US"/>
              <a:t>Titelmasterformat durch Klicken bearbeiten</a:t>
            </a:r>
            <a:endParaRPr lang="en-US" altLang="en-US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0"/>
            <a:ext cx="109728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en-US"/>
              <a:t>Textmasterformat bearbeiten</a:t>
            </a:r>
          </a:p>
          <a:p>
            <a:pPr lvl="1"/>
            <a:r>
              <a:rPr lang="de-DE" altLang="en-US"/>
              <a:t>Zweite Ebene</a:t>
            </a:r>
          </a:p>
          <a:p>
            <a:pPr lvl="2"/>
            <a:r>
              <a:rPr lang="de-DE" altLang="en-US"/>
              <a:t>Dritte Ebene</a:t>
            </a:r>
          </a:p>
          <a:p>
            <a:pPr lvl="3"/>
            <a:r>
              <a:rPr lang="de-DE" altLang="en-US"/>
              <a:t>Vierte Ebene</a:t>
            </a:r>
          </a:p>
          <a:p>
            <a:pPr lvl="4"/>
            <a:r>
              <a:rPr lang="de-DE" altLang="en-US"/>
              <a:t>Fünfte Ebene</a:t>
            </a:r>
            <a:endParaRPr lang="en-US" alt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1"/>
            <a:ext cx="12192000" cy="3651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>
              <a:solidFill>
                <a:srgbClr val="FFFFFF"/>
              </a:solidFill>
              <a:latin typeface="Cambria" panose="020405030504060302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0000" y="19051"/>
            <a:ext cx="1422400" cy="3286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400" b="1">
                <a:solidFill>
                  <a:srgbClr val="FFFFFF"/>
                </a:solidFill>
                <a:latin typeface="Cambria" panose="02040503050406030204" pitchFamily="18" charset="0"/>
              </a:defRPr>
            </a:lvl1pPr>
          </a:lstStyle>
          <a:p>
            <a:fld id="{7C4A033F-32F6-402F-86F8-376D69AFCE5A}" type="slidenum">
              <a:rPr lang="de-DE" altLang="en-US"/>
              <a:pPr/>
              <a:t>‹#›</a:t>
            </a:fld>
            <a:endParaRPr lang="de-DE" altLang="en-US"/>
          </a:p>
        </p:txBody>
      </p:sp>
      <p:sp>
        <p:nvSpPr>
          <p:cNvPr id="9" name="Datumsplatzhalter 3"/>
          <p:cNvSpPr>
            <a:spLocks noGrp="1"/>
          </p:cNvSpPr>
          <p:nvPr>
            <p:ph type="dt" sz="half" idx="2"/>
          </p:nvPr>
        </p:nvSpPr>
        <p:spPr>
          <a:xfrm>
            <a:off x="609600" y="19051"/>
            <a:ext cx="7791451" cy="385763"/>
          </a:xfrm>
          <a:prstGeom prst="rect">
            <a:avLst/>
          </a:prstGeom>
        </p:spPr>
        <p:txBody>
          <a:bodyPr/>
          <a:lstStyle>
            <a:lvl1pPr eaLnBrk="1" hangingPunct="1">
              <a:defRPr sz="14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r>
              <a:rPr lang="de-DE"/>
              <a:t>C4ED | Center for Evaluation and Development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65" r:id="rId1"/>
    <p:sldLayoutId id="2147484166" r:id="rId2"/>
    <p:sldLayoutId id="2147484167" r:id="rId3"/>
    <p:sldLayoutId id="2147484168" r:id="rId4"/>
    <p:sldLayoutId id="2147484169" r:id="rId5"/>
    <p:sldLayoutId id="2147484170" r:id="rId6"/>
    <p:sldLayoutId id="2147484171" r:id="rId7"/>
    <p:sldLayoutId id="2147484172" r:id="rId8"/>
    <p:sldLayoutId id="2147484173" r:id="rId9"/>
    <p:sldLayoutId id="2147484174" r:id="rId10"/>
    <p:sldLayoutId id="2147484175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 spc="-100">
          <a:solidFill>
            <a:schemeClr val="tx2"/>
          </a:solidFill>
          <a:latin typeface="Century Gothic" panose="020B0502020202020204" pitchFamily="34" charset="0"/>
          <a:ea typeface="Source Sans Pro" panose="020B0503030403020204" pitchFamily="34" charset="0"/>
          <a:cs typeface="Century Gothic" panose="020B0502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Source Sans Pro" pitchFamily="34" charset="0"/>
          <a:ea typeface="Source Sans Pro" pitchFamily="34" charset="0"/>
          <a:cs typeface="Source Sans Pro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Source Sans Pro" pitchFamily="34" charset="0"/>
          <a:ea typeface="Source Sans Pro" pitchFamily="34" charset="0"/>
          <a:cs typeface="Source Sans Pro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Source Sans Pro" pitchFamily="34" charset="0"/>
          <a:ea typeface="Source Sans Pro" pitchFamily="34" charset="0"/>
          <a:cs typeface="Source Sans Pro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Source Sans Pro" pitchFamily="34" charset="0"/>
          <a:ea typeface="Source Sans Pro" pitchFamily="34" charset="0"/>
          <a:cs typeface="Source Sans Pro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182563" indent="-1825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entury Gothic" panose="020B0502020202020204" pitchFamily="34" charset="0"/>
          <a:ea typeface="Source Sans Pro" panose="020B0503030403020204" pitchFamily="34" charset="0"/>
          <a:cs typeface="Century Gothic" panose="020B0502020202020204" pitchFamily="34" charset="0"/>
        </a:defRPr>
      </a:lvl1pPr>
      <a:lvl2pPr marL="457200" indent="-1825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entury Gothic" panose="020B0502020202020204" pitchFamily="34" charset="0"/>
          <a:ea typeface="Source Sans Pro" panose="020B0503030403020204" pitchFamily="34" charset="0"/>
          <a:cs typeface="Century Gothic" panose="020B0502020202020204" pitchFamily="34" charset="0"/>
        </a:defRPr>
      </a:lvl2pPr>
      <a:lvl3pPr marL="730250" indent="-1825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90000"/>
        <a:buFont typeface="Arial" panose="020B0604020202020204" pitchFamily="34" charset="0"/>
        <a:buChar char="•"/>
        <a:defRPr kern="1200">
          <a:solidFill>
            <a:schemeClr val="tx1"/>
          </a:solidFill>
          <a:latin typeface="Century Gothic" panose="020B0502020202020204" pitchFamily="34" charset="0"/>
          <a:ea typeface="Source Sans Pro" panose="020B0503030403020204" pitchFamily="34" charset="0"/>
          <a:cs typeface="Century Gothic" panose="020B0502020202020204" pitchFamily="34" charset="0"/>
        </a:defRPr>
      </a:lvl3pPr>
      <a:lvl4pPr marL="1004888" indent="-1825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Century Gothic" panose="020B0502020202020204" pitchFamily="34" charset="0"/>
          <a:ea typeface="Source Sans Pro" panose="020B0503030403020204" pitchFamily="34" charset="0"/>
          <a:cs typeface="Century Gothic" panose="020B0502020202020204" pitchFamily="34" charset="0"/>
        </a:defRPr>
      </a:lvl4pPr>
      <a:lvl5pPr marL="1187450" indent="-1365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entury Gothic" panose="020B0502020202020204" pitchFamily="34" charset="0"/>
          <a:ea typeface="Source Sans Pro" panose="020B0503030403020204" pitchFamily="34" charset="0"/>
          <a:cs typeface="Century Gothic" panose="020B0502020202020204" pitchFamily="34" charset="0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idx="4294967295"/>
          </p:nvPr>
        </p:nvSpPr>
        <p:spPr>
          <a:xfrm>
            <a:off x="1770209" y="501202"/>
            <a:ext cx="8086212" cy="3526512"/>
          </a:xfrm>
        </p:spPr>
        <p:txBody>
          <a:bodyPr anchor="b">
            <a:noAutofit/>
          </a:bodyPr>
          <a:lstStyle/>
          <a:p>
            <a:pPr algn="ctr" eaLnBrk="1" hangingPunct="1">
              <a:spcBef>
                <a:spcPts val="1200"/>
              </a:spcBef>
              <a:defRPr/>
            </a:pPr>
            <a:r>
              <a:rPr lang="en-DE" sz="3600">
                <a:latin typeface="Century Gothic"/>
                <a:ea typeface="Source Sans Pro"/>
              </a:rPr>
              <a:t>Annual TPM Performance Review</a:t>
            </a:r>
            <a:br>
              <a:rPr lang="en-GB" altLang="en-US" sz="2800"/>
            </a:br>
            <a:br>
              <a:rPr lang="en-GB" sz="2800"/>
            </a:br>
            <a:r>
              <a:rPr lang="de-DE" sz="2400">
                <a:latin typeface="Century Gothic"/>
                <a:ea typeface="Source Sans Pro"/>
              </a:rPr>
              <a:t>14</a:t>
            </a:r>
            <a:r>
              <a:rPr lang="de-DE" altLang="en-US" sz="2400">
                <a:latin typeface="Century Gothic"/>
                <a:ea typeface="Source Sans Pro"/>
              </a:rPr>
              <a:t> </a:t>
            </a:r>
            <a:r>
              <a:rPr lang="de-DE" altLang="en-US" sz="2400" err="1">
                <a:latin typeface="Century Gothic"/>
                <a:ea typeface="Source Sans Pro"/>
              </a:rPr>
              <a:t>July</a:t>
            </a:r>
            <a:r>
              <a:rPr lang="de-DE" altLang="en-US" sz="2400">
                <a:latin typeface="Century Gothic"/>
                <a:ea typeface="Source Sans Pro"/>
              </a:rPr>
              <a:t> </a:t>
            </a:r>
            <a:r>
              <a:rPr lang="en-DE" altLang="en-US" sz="2400">
                <a:latin typeface="Century Gothic"/>
                <a:ea typeface="Source Sans Pro"/>
              </a:rPr>
              <a:t>202</a:t>
            </a:r>
            <a:r>
              <a:rPr lang="de-DE" altLang="en-US" sz="2400">
                <a:latin typeface="Century Gothic"/>
                <a:ea typeface="Source Sans Pro"/>
              </a:rPr>
              <a:t>6</a:t>
            </a:r>
            <a:endParaRPr lang="en-GB" altLang="en-US" sz="2800">
              <a:latin typeface="Century Gothic"/>
              <a:ea typeface="Source Sans Pro"/>
            </a:endParaRP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72A4BC34-EF28-4394-8935-77587721409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0798" y="4571766"/>
            <a:ext cx="2311473" cy="146304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A0F5B-26CE-DA41-B372-B915A3A6E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8171" y="720223"/>
            <a:ext cx="8229600" cy="618995"/>
          </a:xfrm>
        </p:spPr>
        <p:txBody>
          <a:bodyPr>
            <a:noAutofit/>
          </a:bodyPr>
          <a:lstStyle/>
          <a:p>
            <a:r>
              <a:rPr lang="de-DE"/>
              <a:t>Agenda</a:t>
            </a:r>
            <a:r>
              <a:rPr lang="en-DE" sz="3200" b="1"/>
              <a:t> </a:t>
            </a:r>
            <a:endParaRPr lang="en-US" sz="32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E4911-89C4-820A-E1D2-A9604CB19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7989" y="1654628"/>
            <a:ext cx="11020927" cy="4822371"/>
          </a:xfrm>
        </p:spPr>
        <p:txBody>
          <a:bodyPr/>
          <a:lstStyle/>
          <a:p>
            <a:endParaRPr lang="de-DE" dirty="0"/>
          </a:p>
          <a:p>
            <a:r>
              <a:rPr lang="de-DE" dirty="0"/>
              <a:t>Introduction </a:t>
            </a:r>
          </a:p>
          <a:p>
            <a:r>
              <a:rPr lang="de-DE" dirty="0"/>
              <a:t>Completeness and timeliness of records</a:t>
            </a:r>
            <a:endParaRPr lang="en-US" dirty="0"/>
          </a:p>
          <a:p>
            <a:pPr lvl="0"/>
            <a:r>
              <a:rPr lang="en-GB" dirty="0"/>
              <a:t>Review of reporting processes, gaps, and improvement opportunities</a:t>
            </a:r>
          </a:p>
          <a:p>
            <a:pPr lvl="0"/>
            <a:r>
              <a:rPr lang="en-GB" dirty="0"/>
              <a:t>Coverage and data quality</a:t>
            </a:r>
          </a:p>
          <a:p>
            <a:r>
              <a:rPr lang="en-GB" dirty="0"/>
              <a:t>Compliance with WFP policies</a:t>
            </a:r>
          </a:p>
          <a:p>
            <a:r>
              <a:rPr lang="en-GB" dirty="0"/>
              <a:t>Budget review, including current pressures and cost drivers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2B28B3-394C-D293-73B8-ED0196F6EC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6B2AB2-6265-4A33-A62E-6921C5AD1A87}" type="slidenum">
              <a:rPr lang="de-DE" altLang="en-US" smtClean="0"/>
              <a:pPr/>
              <a:t>2</a:t>
            </a:fld>
            <a:endParaRPr lang="de-DE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53E898-8A1B-E992-3084-EFFDA8438A5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C4ED | Center for Evaluation and Development</a:t>
            </a:r>
          </a:p>
        </p:txBody>
      </p:sp>
    </p:spTree>
    <p:extLst>
      <p:ext uri="{BB962C8B-B14F-4D97-AF65-F5344CB8AC3E}">
        <p14:creationId xmlns:p14="http://schemas.microsoft.com/office/powerpoint/2010/main" val="3295098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9D5F4-93C5-E7C3-1599-719A65BEB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0117EE-3630-EE96-004B-0965E62B999B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D697855-90F5-84E8-712D-A1BEA3A9B2BF}"/>
              </a:ext>
            </a:extLst>
          </p:cNvPr>
          <p:cNvSpPr/>
          <p:nvPr/>
        </p:nvSpPr>
        <p:spPr>
          <a:xfrm>
            <a:off x="10717530" y="-228600"/>
            <a:ext cx="3108960" cy="3108960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B4FE786-4F03-01B3-CF12-E7C3B0E55180}"/>
              </a:ext>
            </a:extLst>
          </p:cNvPr>
          <p:cNvSpPr/>
          <p:nvPr/>
        </p:nvSpPr>
        <p:spPr>
          <a:xfrm>
            <a:off x="10881360" y="5120640"/>
            <a:ext cx="2377440" cy="2377440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1D2D7DF-2E62-5657-2F54-8A81B3519520}"/>
              </a:ext>
            </a:extLst>
          </p:cNvPr>
          <p:cNvSpPr/>
          <p:nvPr/>
        </p:nvSpPr>
        <p:spPr>
          <a:xfrm>
            <a:off x="-822960" y="5394960"/>
            <a:ext cx="2194560" cy="2194560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E92013-0F9D-F02A-445F-5C7721D536FF}"/>
              </a:ext>
            </a:extLst>
          </p:cNvPr>
          <p:cNvSpPr txBox="1"/>
          <p:nvPr/>
        </p:nvSpPr>
        <p:spPr>
          <a:xfrm>
            <a:off x="822960" y="3017520"/>
            <a:ext cx="105156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dirty="0">
                <a:solidFill>
                  <a:srgbClr val="FFFFFF"/>
                </a:solidFill>
                <a:latin typeface="+mn-lt"/>
              </a:rPr>
              <a:t>0</a:t>
            </a:r>
            <a:r>
              <a:rPr lang="en-US" sz="5400" b="1" dirty="0">
                <a:solidFill>
                  <a:schemeClr val="bg1"/>
                </a:solidFill>
                <a:latin typeface="+mn-lt"/>
              </a:rPr>
              <a:t>1</a:t>
            </a:r>
            <a:r>
              <a:rPr sz="5400" b="1" dirty="0">
                <a:solidFill>
                  <a:schemeClr val="bg1"/>
                </a:solidFill>
                <a:latin typeface="+mn-lt"/>
              </a:rPr>
              <a:t>   </a:t>
            </a:r>
            <a:r>
              <a:rPr lang="en-US" sz="5400" b="1" dirty="0">
                <a:solidFill>
                  <a:schemeClr val="bg1"/>
                </a:solidFill>
              </a:rPr>
              <a:t>Introduction</a:t>
            </a:r>
          </a:p>
          <a:p>
            <a:pPr algn="l"/>
            <a:endParaRPr sz="5400" b="1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B53F44-DA02-868B-209D-BDBE6D8DCC0D}"/>
              </a:ext>
            </a:extLst>
          </p:cNvPr>
          <p:cNvSpPr txBox="1"/>
          <p:nvPr/>
        </p:nvSpPr>
        <p:spPr>
          <a:xfrm>
            <a:off x="868680" y="4069080"/>
            <a:ext cx="10332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FFFF"/>
                </a:solidFill>
                <a:latin typeface="+mn-lt"/>
              </a:rPr>
              <a:t>C4ED and the Third-Party Monitoring assignment for WFP Ethiopia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964138-6E42-B5C2-AA1A-4553E190F6CC}"/>
              </a:ext>
            </a:extLst>
          </p:cNvPr>
          <p:cNvSpPr txBox="1"/>
          <p:nvPr/>
        </p:nvSpPr>
        <p:spPr>
          <a:xfrm>
            <a:off x="336888" y="1630959"/>
            <a:ext cx="6707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21B2C8"/>
                </a:solidFill>
                <a:latin typeface="+mn-lt"/>
              </a:rPr>
              <a:t>01 </a:t>
            </a:r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DD1B4A7-BE8C-8A8C-4280-11C75D51A21B}"/>
              </a:ext>
            </a:extLst>
          </p:cNvPr>
          <p:cNvSpPr/>
          <p:nvPr/>
        </p:nvSpPr>
        <p:spPr>
          <a:xfrm>
            <a:off x="822960" y="1920240"/>
            <a:ext cx="1005840" cy="10058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4000" b="1" dirty="0">
                <a:solidFill>
                  <a:srgbClr val="21B2C8"/>
                </a:solidFill>
                <a:latin typeface="Segoe UI Symbol"/>
              </a:rPr>
              <a:t>◎</a:t>
            </a:r>
          </a:p>
        </p:txBody>
      </p:sp>
    </p:spTree>
    <p:extLst>
      <p:ext uri="{BB962C8B-B14F-4D97-AF65-F5344CB8AC3E}">
        <p14:creationId xmlns:p14="http://schemas.microsoft.com/office/powerpoint/2010/main" val="3021213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10972800" cy="822960"/>
          </a:xfrm>
        </p:spPr>
        <p:txBody>
          <a:bodyPr wrap="square">
            <a:normAutofit/>
          </a:bodyPr>
          <a:lstStyle/>
          <a:p>
            <a:pPr algn="l"/>
            <a:r>
              <a:rPr sz="3600" b="1" dirty="0">
                <a:solidFill>
                  <a:srgbClr val="047B77"/>
                </a:solidFill>
                <a:latin typeface="+mn-lt"/>
              </a:rPr>
              <a:t>Introduction</a:t>
            </a:r>
            <a:r>
              <a:rPr lang="en-US" sz="3600" b="1" dirty="0">
                <a:solidFill>
                  <a:srgbClr val="047B77"/>
                </a:solidFill>
                <a:latin typeface="+mn-lt"/>
              </a:rPr>
              <a:t>:</a:t>
            </a:r>
            <a:r>
              <a:rPr sz="3600" b="1" dirty="0">
                <a:solidFill>
                  <a:srgbClr val="047B77"/>
                </a:solidFill>
                <a:latin typeface="+mn-lt"/>
              </a:rPr>
              <a:t> The TPM Assignment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805145" y="1041213"/>
            <a:ext cx="2472721" cy="186836"/>
          </a:xfrm>
          <a:prstGeom prst="rect">
            <a:avLst/>
          </a:prstGeom>
          <a:solidFill>
            <a:srgbClr val="FFB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Rounded Rectangle 3"/>
          <p:cNvSpPr/>
          <p:nvPr/>
        </p:nvSpPr>
        <p:spPr>
          <a:xfrm>
            <a:off x="1167063" y="1554479"/>
            <a:ext cx="4800600" cy="4545531"/>
          </a:xfrm>
          <a:prstGeom prst="roundRect">
            <a:avLst>
              <a:gd name="adj" fmla="val 6000"/>
            </a:avLst>
          </a:prstGeom>
          <a:solidFill>
            <a:srgbClr val="F5FAFA"/>
          </a:solidFill>
          <a:ln w="12700">
            <a:solidFill>
              <a:srgbClr val="B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Oval 4"/>
          <p:cNvSpPr/>
          <p:nvPr/>
        </p:nvSpPr>
        <p:spPr>
          <a:xfrm>
            <a:off x="1466884" y="1737360"/>
            <a:ext cx="519187" cy="513800"/>
          </a:xfrm>
          <a:prstGeom prst="ellipse">
            <a:avLst/>
          </a:prstGeom>
          <a:solidFill>
            <a:srgbClr val="047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400" b="1">
                <a:solidFill>
                  <a:srgbClr val="FFFFFF"/>
                </a:solidFill>
              </a:rPr>
              <a:t>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88677" y="1682496"/>
            <a:ext cx="2690332" cy="471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47B77"/>
                </a:solidFill>
                <a:latin typeface="+mn-lt"/>
              </a:rPr>
              <a:t>Who we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6253" y="2577485"/>
            <a:ext cx="4562219" cy="2718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2800" dirty="0">
                <a:solidFill>
                  <a:srgbClr val="2B2B2B"/>
                </a:solidFill>
                <a:latin typeface="+mn-lt"/>
              </a:rPr>
              <a:t>C4ED</a:t>
            </a:r>
            <a:r>
              <a:rPr lang="en-US" sz="2800" dirty="0">
                <a:solidFill>
                  <a:srgbClr val="2B2B2B"/>
                </a:solidFill>
                <a:latin typeface="+mn-lt"/>
              </a:rPr>
              <a:t>:</a:t>
            </a:r>
            <a:r>
              <a:rPr sz="2800" dirty="0">
                <a:solidFill>
                  <a:srgbClr val="2B2B2B"/>
                </a:solidFill>
                <a:latin typeface="+mn-lt"/>
              </a:rPr>
              <a:t> Center for Evaluation and Development</a:t>
            </a:r>
            <a:endParaRPr lang="en-US" sz="2800" dirty="0">
              <a:solidFill>
                <a:srgbClr val="2B2B2B"/>
              </a:solidFill>
              <a:latin typeface="+mn-lt"/>
            </a:endParaRPr>
          </a:p>
          <a:p>
            <a:pPr>
              <a:spcAft>
                <a:spcPts val="400"/>
              </a:spcAft>
            </a:pPr>
            <a:endParaRPr sz="2400" dirty="0">
              <a:solidFill>
                <a:srgbClr val="2B2B2B"/>
              </a:solidFill>
              <a:latin typeface="+mn-lt"/>
            </a:endParaRP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2800" dirty="0">
                <a:solidFill>
                  <a:srgbClr val="2B2B2B"/>
                </a:solidFill>
                <a:latin typeface="+mn-lt"/>
              </a:rPr>
              <a:t>Independent third-party monitoring (TPM) partner</a:t>
            </a:r>
            <a:endParaRPr lang="en-US" sz="2800" dirty="0">
              <a:solidFill>
                <a:srgbClr val="2B2B2B"/>
              </a:solidFill>
              <a:latin typeface="+mn-lt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85022" y="1554479"/>
            <a:ext cx="4978672" cy="4449277"/>
          </a:xfrm>
          <a:prstGeom prst="roundRect">
            <a:avLst>
              <a:gd name="adj" fmla="val 6000"/>
            </a:avLst>
          </a:prstGeom>
          <a:solidFill>
            <a:srgbClr val="F5FAFA"/>
          </a:solidFill>
          <a:ln w="12700">
            <a:solidFill>
              <a:srgbClr val="B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Oval 8"/>
          <p:cNvSpPr/>
          <p:nvPr/>
        </p:nvSpPr>
        <p:spPr>
          <a:xfrm>
            <a:off x="6746351" y="1713296"/>
            <a:ext cx="502920" cy="502920"/>
          </a:xfrm>
          <a:prstGeom prst="ellipse">
            <a:avLst/>
          </a:prstGeom>
          <a:solidFill>
            <a:srgbClr val="21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400" b="1">
                <a:solidFill>
                  <a:srgbClr val="FFFFFF"/>
                </a:solidFill>
              </a:rPr>
              <a:t>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8143" y="1658432"/>
            <a:ext cx="2880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047B77"/>
                </a:solidFill>
                <a:latin typeface="+mn-lt"/>
              </a:rPr>
              <a:t>What we monitor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2135" y="2267712"/>
            <a:ext cx="4800600" cy="3677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2B2B2B"/>
                </a:solidFill>
                <a:latin typeface="+mn-lt"/>
              </a:rPr>
              <a:t>WFP food assistance </a:t>
            </a:r>
            <a:endParaRPr lang="en-US" sz="2400" dirty="0">
              <a:solidFill>
                <a:srgbClr val="2B2B2B"/>
              </a:solidFill>
              <a:latin typeface="+mn-lt"/>
            </a:endParaRPr>
          </a:p>
          <a:p>
            <a:pPr>
              <a:spcAft>
                <a:spcPts val="400"/>
              </a:spcAft>
            </a:pPr>
            <a:endParaRPr lang="en-US" sz="300" dirty="0">
              <a:solidFill>
                <a:srgbClr val="2B2B2B"/>
              </a:solidFill>
              <a:latin typeface="+mn-lt"/>
            </a:endParaRPr>
          </a:p>
          <a:p>
            <a:pPr marL="34290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2B2B2B"/>
                </a:solidFill>
                <a:latin typeface="+mn-lt"/>
              </a:rPr>
              <a:t>Live distribution and post-distribution monitoring (PDM</a:t>
            </a:r>
            <a:r>
              <a:rPr lang="en-US" sz="2400" dirty="0">
                <a:solidFill>
                  <a:srgbClr val="2B2B2B"/>
                </a:solidFill>
                <a:latin typeface="+mn-lt"/>
              </a:rPr>
              <a:t>)</a:t>
            </a:r>
          </a:p>
          <a:p>
            <a:pPr>
              <a:spcAft>
                <a:spcPts val="400"/>
              </a:spcAft>
            </a:pPr>
            <a:endParaRPr sz="800" dirty="0">
              <a:solidFill>
                <a:srgbClr val="2B2B2B"/>
              </a:solidFill>
              <a:latin typeface="+mn-lt"/>
            </a:endParaRPr>
          </a:p>
          <a:p>
            <a:pPr marL="34290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2B2B2B"/>
                </a:solidFill>
                <a:latin typeface="+mn-lt"/>
              </a:rPr>
              <a:t>Early warning, </a:t>
            </a:r>
            <a:r>
              <a:rPr lang="en-US" sz="2400" dirty="0">
                <a:solidFill>
                  <a:srgbClr val="2B2B2B"/>
                </a:solidFill>
                <a:latin typeface="+mn-lt"/>
              </a:rPr>
              <a:t>warehouse, </a:t>
            </a:r>
            <a:r>
              <a:rPr sz="2400" dirty="0">
                <a:solidFill>
                  <a:srgbClr val="2B2B2B"/>
                </a:solidFill>
                <a:latin typeface="+mn-lt"/>
              </a:rPr>
              <a:t>market monitoring</a:t>
            </a:r>
            <a:r>
              <a:rPr lang="en-US" sz="2400" dirty="0">
                <a:solidFill>
                  <a:srgbClr val="2B2B2B"/>
                </a:solidFill>
                <a:latin typeface="+mn-lt"/>
              </a:rPr>
              <a:t>, livelihood </a:t>
            </a:r>
            <a:r>
              <a:rPr sz="2400" dirty="0">
                <a:solidFill>
                  <a:srgbClr val="2B2B2B"/>
                </a:solidFill>
                <a:latin typeface="+mn-lt"/>
              </a:rPr>
              <a:t>and nutrition-related activities</a:t>
            </a:r>
            <a:endParaRPr lang="en-US" sz="2400" dirty="0">
              <a:solidFill>
                <a:srgbClr val="2B2B2B"/>
              </a:solidFill>
              <a:latin typeface="+mn-lt"/>
            </a:endParaRPr>
          </a:p>
          <a:p>
            <a:pPr>
              <a:spcAft>
                <a:spcPts val="400"/>
              </a:spcAft>
            </a:pPr>
            <a:endParaRPr sz="1000" dirty="0">
              <a:solidFill>
                <a:srgbClr val="2B2B2B"/>
              </a:solidFill>
              <a:latin typeface="+mn-lt"/>
            </a:endParaRPr>
          </a:p>
          <a:p>
            <a:pPr marL="34290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2B2B2B"/>
                </a:solidFill>
                <a:latin typeface="+mn-lt"/>
              </a:rPr>
              <a:t>Across Amhara, Tigray and Benishangul-</a:t>
            </a:r>
            <a:r>
              <a:rPr sz="2400" dirty="0" err="1">
                <a:solidFill>
                  <a:srgbClr val="2B2B2B"/>
                </a:solidFill>
                <a:latin typeface="+mn-lt"/>
              </a:rPr>
              <a:t>Gumuz</a:t>
            </a:r>
            <a:endParaRPr sz="2400" dirty="0">
              <a:solidFill>
                <a:srgbClr val="2B2B2B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10972800" cy="822960"/>
          </a:xfrm>
        </p:spPr>
        <p:txBody>
          <a:bodyPr wrap="square"/>
          <a:lstStyle/>
          <a:p>
            <a:pPr algn="l"/>
            <a:r>
              <a:rPr lang="en-US" sz="2800" b="1" dirty="0">
                <a:solidFill>
                  <a:srgbClr val="047B77"/>
                </a:solidFill>
                <a:latin typeface="+mn-lt"/>
              </a:rPr>
              <a:t>Year 1 at a Glance</a:t>
            </a:r>
          </a:p>
        </p:txBody>
      </p:sp>
      <p:sp>
        <p:nvSpPr>
          <p:cNvPr id="3" name="Rectangle 2"/>
          <p:cNvSpPr/>
          <p:nvPr/>
        </p:nvSpPr>
        <p:spPr>
          <a:xfrm flipV="1">
            <a:off x="658368" y="981074"/>
            <a:ext cx="2734537" cy="207605"/>
          </a:xfrm>
          <a:prstGeom prst="rect">
            <a:avLst/>
          </a:prstGeom>
          <a:solidFill>
            <a:srgbClr val="FFB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02791" y="1342330"/>
            <a:ext cx="3807234" cy="1766630"/>
          </a:xfrm>
          <a:prstGeom prst="roundRect">
            <a:avLst>
              <a:gd name="adj" fmla="val 8000"/>
            </a:avLst>
          </a:prstGeom>
          <a:solidFill>
            <a:srgbClr val="047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09728" rtlCol="0" anchor="ctr"/>
          <a:lstStyle/>
          <a:p>
            <a:pPr algn="ctr"/>
            <a:r>
              <a:rPr sz="4800" b="1" dirty="0">
                <a:solidFill>
                  <a:srgbClr val="FFFFFF"/>
                </a:solidFill>
              </a:rPr>
              <a:t>6</a:t>
            </a:r>
            <a:r>
              <a:rPr lang="en-US" sz="4800" b="1" dirty="0">
                <a:solidFill>
                  <a:srgbClr val="FFFFFF"/>
                </a:solidFill>
              </a:rPr>
              <a:t>2</a:t>
            </a:r>
            <a:endParaRPr sz="4800" b="1" dirty="0">
              <a:solidFill>
                <a:srgbClr val="FFFFFF"/>
              </a:solidFill>
            </a:endParaRPr>
          </a:p>
          <a:p>
            <a:pPr algn="ctr"/>
            <a:r>
              <a:rPr sz="2400" dirty="0">
                <a:solidFill>
                  <a:srgbClr val="FFFFFF"/>
                </a:solidFill>
              </a:rPr>
              <a:t>Monitors deployed
</a:t>
            </a:r>
            <a:r>
              <a:rPr sz="2100" dirty="0">
                <a:solidFill>
                  <a:srgbClr val="FFFFFF"/>
                </a:solidFill>
              </a:rPr>
              <a:t>(3 RMCs + </a:t>
            </a:r>
            <a:r>
              <a:rPr lang="en-US" sz="2100" dirty="0">
                <a:solidFill>
                  <a:srgbClr val="FFFFFF"/>
                </a:solidFill>
              </a:rPr>
              <a:t>2 AMCs + </a:t>
            </a:r>
            <a:r>
              <a:rPr sz="2100" dirty="0">
                <a:solidFill>
                  <a:srgbClr val="FFFFFF"/>
                </a:solidFill>
              </a:rPr>
              <a:t>6</a:t>
            </a:r>
            <a:r>
              <a:rPr lang="en-US" sz="2100" dirty="0">
                <a:solidFill>
                  <a:srgbClr val="FFFFFF"/>
                </a:solidFill>
              </a:rPr>
              <a:t>0 </a:t>
            </a:r>
            <a:r>
              <a:rPr sz="2100" dirty="0">
                <a:solidFill>
                  <a:srgbClr val="FFFFFF"/>
                </a:solidFill>
              </a:rPr>
              <a:t>FMAs)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52998" y="1355538"/>
            <a:ext cx="4140609" cy="1762566"/>
          </a:xfrm>
          <a:prstGeom prst="roundRect">
            <a:avLst>
              <a:gd name="adj" fmla="val 8000"/>
            </a:avLst>
          </a:prstGeom>
          <a:solidFill>
            <a:srgbClr val="21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09728" rtlCol="0" anchor="ctr"/>
          <a:lstStyle/>
          <a:p>
            <a:pPr algn="ctr"/>
            <a:r>
              <a:rPr sz="4000" b="1" dirty="0">
                <a:solidFill>
                  <a:srgbClr val="FFFFFF"/>
                </a:solidFill>
              </a:rPr>
              <a:t>3</a:t>
            </a:r>
          </a:p>
          <a:p>
            <a:pPr algn="ctr"/>
            <a:r>
              <a:rPr sz="2400" dirty="0">
                <a:solidFill>
                  <a:srgbClr val="FFFFFF"/>
                </a:solidFill>
              </a:rPr>
              <a:t>Regions covered:
Amhara, Tigray,
Benishangul-</a:t>
            </a:r>
            <a:r>
              <a:rPr sz="2400" dirty="0" err="1">
                <a:solidFill>
                  <a:srgbClr val="FFFFFF"/>
                </a:solidFill>
              </a:rPr>
              <a:t>Gumuz</a:t>
            </a:r>
            <a:endParaRPr sz="2400" dirty="0">
              <a:solidFill>
                <a:srgbClr val="FFFFFF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568156" y="1355538"/>
            <a:ext cx="3263952" cy="1753422"/>
          </a:xfrm>
          <a:prstGeom prst="roundRect">
            <a:avLst>
              <a:gd name="adj" fmla="val 8000"/>
            </a:avLst>
          </a:prstGeom>
          <a:solidFill>
            <a:srgbClr val="21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09728" rtlCol="0" anchor="ctr"/>
          <a:lstStyle/>
          <a:p>
            <a:pPr algn="ctr"/>
            <a:r>
              <a:rPr lang="en-US" sz="4400" b="1" dirty="0">
                <a:solidFill>
                  <a:srgbClr val="FFFFFF"/>
                </a:solidFill>
              </a:rPr>
              <a:t>4</a:t>
            </a:r>
            <a:r>
              <a:rPr sz="4400" b="1" dirty="0">
                <a:solidFill>
                  <a:srgbClr val="FFFFFF"/>
                </a:solidFill>
              </a:rPr>
              <a:t>2+</a:t>
            </a:r>
          </a:p>
          <a:p>
            <a:pPr algn="ctr"/>
            <a:r>
              <a:rPr sz="2100" dirty="0">
                <a:solidFill>
                  <a:srgbClr val="FFFFFF"/>
                </a:solidFill>
              </a:rPr>
              <a:t>Weekly flash / hot-button
reports delivered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83280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047B77"/>
                </a:solidFill>
                <a:latin typeface="+mn-lt"/>
              </a:rPr>
              <a:t>Full reporting cadence sustained throughout the year: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4347514"/>
            <a:ext cx="347472" cy="347472"/>
          </a:xfrm>
          <a:prstGeom prst="ellipse">
            <a:avLst/>
          </a:prstGeom>
          <a:solidFill>
            <a:srgbClr val="047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4320082"/>
            <a:ext cx="102412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dirty="0">
                <a:solidFill>
                  <a:srgbClr val="2B2B2B"/>
                </a:solidFill>
                <a:latin typeface="+mn-lt"/>
              </a:rPr>
              <a:t>Monthly monitoring plans, narrative and expenditure reports submitted on schedule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914442"/>
            <a:ext cx="347472" cy="347472"/>
          </a:xfrm>
          <a:prstGeom prst="ellipse">
            <a:avLst/>
          </a:prstGeom>
          <a:solidFill>
            <a:srgbClr val="047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887010"/>
            <a:ext cx="102412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dirty="0">
                <a:solidFill>
                  <a:srgbClr val="2B2B2B"/>
                </a:solidFill>
                <a:latin typeface="+mn-lt"/>
              </a:rPr>
              <a:t>Quarterly process and outcome monitoring reports (</a:t>
            </a:r>
            <a:r>
              <a:rPr sz="2200" b="0" dirty="0" err="1">
                <a:solidFill>
                  <a:srgbClr val="2B2B2B"/>
                </a:solidFill>
                <a:latin typeface="+mn-lt"/>
              </a:rPr>
              <a:t>MoDA</a:t>
            </a:r>
            <a:r>
              <a:rPr sz="2200" b="0" dirty="0">
                <a:solidFill>
                  <a:srgbClr val="2B2B2B"/>
                </a:solidFill>
                <a:latin typeface="+mn-lt"/>
              </a:rPr>
              <a:t>) delivered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5481370"/>
            <a:ext cx="347472" cy="347472"/>
          </a:xfrm>
          <a:prstGeom prst="ellipse">
            <a:avLst/>
          </a:prstGeom>
          <a:solidFill>
            <a:srgbClr val="047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5453938"/>
            <a:ext cx="10241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dirty="0">
                <a:solidFill>
                  <a:srgbClr val="2B2B2B"/>
                </a:solidFill>
                <a:latin typeface="+mn-lt"/>
              </a:rPr>
              <a:t>Coordination maintained with WFP </a:t>
            </a:r>
            <a:r>
              <a:rPr lang="en-US" sz="2400" dirty="0">
                <a:solidFill>
                  <a:srgbClr val="2B2B2B"/>
                </a:solidFill>
                <a:latin typeface="+mn-lt"/>
              </a:rPr>
              <a:t>HQ</a:t>
            </a:r>
            <a:r>
              <a:rPr sz="2400" b="0" dirty="0">
                <a:solidFill>
                  <a:srgbClr val="2B2B2B"/>
                </a:solidFill>
                <a:latin typeface="+mn-lt"/>
              </a:rPr>
              <a:t>, Sub</a:t>
            </a:r>
            <a:r>
              <a:rPr lang="en-US" sz="2400" b="0" dirty="0">
                <a:solidFill>
                  <a:srgbClr val="2B2B2B"/>
                </a:solidFill>
                <a:latin typeface="+mn-lt"/>
              </a:rPr>
              <a:t>/Area</a:t>
            </a:r>
            <a:r>
              <a:rPr sz="2400" b="0" dirty="0">
                <a:solidFill>
                  <a:srgbClr val="2B2B2B"/>
                </a:solidFill>
                <a:latin typeface="+mn-lt"/>
              </a:rPr>
              <a:t>-Offices and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6048298"/>
            <a:ext cx="347472" cy="347472"/>
          </a:xfrm>
          <a:prstGeom prst="ellipse">
            <a:avLst/>
          </a:prstGeom>
          <a:solidFill>
            <a:srgbClr val="047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6020866"/>
            <a:ext cx="10241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2B2B2B"/>
                </a:solidFill>
                <a:latin typeface="+mn-lt"/>
              </a:rPr>
              <a:t>Shared experiences and lessons with fellow TPM partner (</a:t>
            </a:r>
            <a:r>
              <a:rPr lang="en-US" sz="2400" dirty="0" err="1">
                <a:solidFill>
                  <a:srgbClr val="2B2B2B"/>
                </a:solidFill>
                <a:latin typeface="+mn-lt"/>
              </a:rPr>
              <a:t>JaRco</a:t>
            </a:r>
            <a:r>
              <a:rPr lang="en-US" sz="2400" dirty="0">
                <a:solidFill>
                  <a:srgbClr val="2B2B2B"/>
                </a:solidFill>
                <a:latin typeface="+mn-lt"/>
              </a:rPr>
              <a:t>)</a:t>
            </a:r>
            <a:endParaRPr sz="2400" b="0" dirty="0">
              <a:solidFill>
                <a:srgbClr val="2B2B2B"/>
              </a:solidFill>
              <a:latin typeface="+mn-lt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0681CBD-D861-9FAA-08FA-A375AD35A1DF}"/>
              </a:ext>
            </a:extLst>
          </p:cNvPr>
          <p:cNvSpPr/>
          <p:nvPr/>
        </p:nvSpPr>
        <p:spPr>
          <a:xfrm>
            <a:off x="4010025" y="515434"/>
            <a:ext cx="842547" cy="686454"/>
          </a:xfrm>
          <a:prstGeom prst="ellipse">
            <a:avLst/>
          </a:prstGeom>
          <a:solidFill>
            <a:srgbClr val="FFB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3600" b="1" dirty="0">
                <a:solidFill>
                  <a:srgbClr val="FFFFFF"/>
                </a:solidFill>
              </a:rPr>
              <a:t>⚙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D5B158-FEE7-0680-9464-20C36CD85E3C}"/>
              </a:ext>
            </a:extLst>
          </p:cNvPr>
          <p:cNvSpPr txBox="1"/>
          <p:nvPr/>
        </p:nvSpPr>
        <p:spPr>
          <a:xfrm>
            <a:off x="4971444" y="515434"/>
            <a:ext cx="2560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B88600"/>
                </a:solidFill>
                <a:latin typeface="+mn-lt"/>
              </a:rPr>
              <a:t>How we work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2C28290-5EF0-81C9-8322-A0419D5B2A6E}"/>
              </a:ext>
            </a:extLst>
          </p:cNvPr>
          <p:cNvSpPr/>
          <p:nvPr/>
        </p:nvSpPr>
        <p:spPr>
          <a:xfrm>
            <a:off x="809320" y="3886297"/>
            <a:ext cx="347472" cy="347472"/>
          </a:xfrm>
          <a:prstGeom prst="ellipse">
            <a:avLst/>
          </a:prstGeom>
          <a:solidFill>
            <a:srgbClr val="047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83D961-F395-D02D-C6A2-26F98FCCE998}"/>
              </a:ext>
            </a:extLst>
          </p:cNvPr>
          <p:cNvSpPr txBox="1"/>
          <p:nvPr/>
        </p:nvSpPr>
        <p:spPr>
          <a:xfrm>
            <a:off x="1357960" y="3858865"/>
            <a:ext cx="102412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2B2B2B"/>
                </a:solidFill>
                <a:latin typeface="+mn-lt"/>
              </a:rPr>
              <a:t>Weekly-to-quarterly reporting pipeline to WFP</a:t>
            </a:r>
            <a:endParaRPr sz="2200" b="0" dirty="0">
              <a:solidFill>
                <a:srgbClr val="2B2B2B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CC6E0-7885-F68C-9FD6-031DF3669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6C0F2-7861-48C8-4BF4-BF7354CDE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Monthly monitoring plans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80E075-CAF8-3B8A-4063-1E37CD24CA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6B2AB2-6265-4A33-A62E-6921C5AD1A87}" type="slidenum">
              <a:rPr lang="de-DE" altLang="en-US" smtClean="0"/>
              <a:pPr/>
              <a:t>6</a:t>
            </a:fld>
            <a:endParaRPr lang="de-DE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7147E5-8EA4-81ED-372C-B784C37616B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C4ED | Center for Evaluation and Development</a:t>
            </a:r>
          </a:p>
        </p:txBody>
      </p:sp>
      <p:pic>
        <p:nvPicPr>
          <p:cNvPr id="6" name="Picture 5" descr="unnamed-chunk-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43" y="1371600"/>
            <a:ext cx="10905066" cy="512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332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11D01-B9D6-C0B7-6458-C36952C5A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29928-C23D-D513-50D8-78C7C7085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Weekly hot button/flash reports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029DCF-01E2-AB8E-87ED-12BC1AF317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6B2AB2-6265-4A33-A62E-6921C5AD1A87}" type="slidenum">
              <a:rPr lang="de-DE" altLang="en-US" smtClean="0"/>
              <a:pPr/>
              <a:t>7</a:t>
            </a:fld>
            <a:endParaRPr lang="de-DE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F85ED0-9B82-9E63-7456-8B34EDDA948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C4ED | Center for Evaluation and Development</a:t>
            </a:r>
          </a:p>
        </p:txBody>
      </p:sp>
      <p:pic>
        <p:nvPicPr>
          <p:cNvPr id="6" name="Picture 5" descr="unnamed-chunk-3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" y="1371600"/>
            <a:ext cx="11430000" cy="512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21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6905E-8951-DF36-052B-B4DCF691B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94DCC-5768-D006-E074-7369CB33A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Monthly narrative and </a:t>
            </a:r>
            <a:r>
              <a:rPr lang="de-DE" err="1"/>
              <a:t>expenditure</a:t>
            </a:r>
            <a:r>
              <a:rPr lang="de-DE"/>
              <a:t> </a:t>
            </a:r>
            <a:r>
              <a:rPr lang="de-DE" err="1"/>
              <a:t>reports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3B5796-786A-E7A5-973A-D108DC6A1F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6B2AB2-6265-4A33-A62E-6921C5AD1A87}" type="slidenum">
              <a:rPr lang="de-DE" altLang="en-US" smtClean="0"/>
              <a:pPr/>
              <a:t>8</a:t>
            </a:fld>
            <a:endParaRPr lang="de-DE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1CBEE9-65A7-B5E9-9E20-8BE36596A5B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C4ED | Center for Evaluation and Development</a:t>
            </a:r>
          </a:p>
        </p:txBody>
      </p:sp>
      <p:pic>
        <p:nvPicPr>
          <p:cNvPr id="6" name="Picture 5" descr="unnamed-chunk-4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43" y="1371600"/>
            <a:ext cx="10905066" cy="512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404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E9BE4-C0BC-1EA0-CC23-D021DBDCD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27FEC-BBB8-40A6-D914-A034094FD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Process and outcome monitoring reports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3DB653-BA75-5BD2-E366-D64E3EBE2E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6B2AB2-6265-4A33-A62E-6921C5AD1A87}" type="slidenum">
              <a:rPr lang="de-DE" altLang="en-US" smtClean="0"/>
              <a:pPr/>
              <a:t>9</a:t>
            </a:fld>
            <a:endParaRPr lang="de-DE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0B8DA0-F0F0-2CD4-C392-BD2354CFC21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C4ED | Center for Evaluation and Development</a:t>
            </a:r>
          </a:p>
        </p:txBody>
      </p:sp>
      <p:pic>
        <p:nvPicPr>
          <p:cNvPr id="6" name="Picture 5" descr="unnamed-chunk-5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43" y="1371600"/>
            <a:ext cx="10905066" cy="512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889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6EA1A-639C-3E88-0F91-2F9CF7A70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CA5603-EE4C-FD55-931F-5FDF1D10F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82714"/>
            <a:ext cx="10972800" cy="990600"/>
          </a:xfrm>
        </p:spPr>
        <p:txBody>
          <a:bodyPr>
            <a:normAutofit/>
          </a:bodyPr>
          <a:lstStyle/>
          <a:p>
            <a:r>
              <a:rPr lang="en-US"/>
              <a:t>Review of reporting processes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DFD07BC-0AC3-0617-C118-BB107794A3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Segoe UI"/>
                <a:ea typeface="Source Sans Pro"/>
                <a:cs typeface="Segoe UI"/>
              </a:rPr>
              <a:t>Weekly Reports:</a:t>
            </a:r>
            <a:r>
              <a:rPr lang="en-US" dirty="0">
                <a:latin typeface="Segoe UI"/>
                <a:ea typeface="Source Sans Pro"/>
                <a:cs typeface="Segoe UI"/>
              </a:rPr>
              <a:t> Robust collection system is well-established; compiled reports are typically submitted to WFP by Monday deadlines.</a:t>
            </a:r>
          </a:p>
          <a:p>
            <a:r>
              <a:rPr lang="en-US" b="1" dirty="0">
                <a:latin typeface="Segoe UI"/>
                <a:ea typeface="Source Sans Pro"/>
                <a:cs typeface="Segoe UI"/>
              </a:rPr>
              <a:t>Monthly Reports:</a:t>
            </a:r>
            <a:r>
              <a:rPr lang="en-US" dirty="0">
                <a:latin typeface="Segoe UI"/>
                <a:ea typeface="Source Sans Pro"/>
                <a:cs typeface="Segoe UI"/>
              </a:rPr>
              <a:t> On track despite occasional late submissions. Next step is integrating FMA activity monitoring data to enhance overall reporting depth.</a:t>
            </a:r>
          </a:p>
          <a:p>
            <a:r>
              <a:rPr lang="en-US" b="1" dirty="0">
                <a:latin typeface="Segoe UI"/>
                <a:ea typeface="Source Sans Pro"/>
                <a:cs typeface="Segoe UI"/>
              </a:rPr>
              <a:t>Quarterly Reports:</a:t>
            </a:r>
            <a:r>
              <a:rPr lang="en-US" dirty="0">
                <a:latin typeface="Segoe UI"/>
                <a:ea typeface="Source Sans Pro"/>
                <a:cs typeface="Segoe UI"/>
              </a:rPr>
              <a:t> Current timeline (uploads around the 8th) strains processing schedules.</a:t>
            </a:r>
          </a:p>
          <a:p>
            <a:pPr lvl="1"/>
            <a:r>
              <a:rPr lang="en-US" sz="2200" b="1" dirty="0">
                <a:latin typeface="Segoe UI"/>
                <a:ea typeface="Source Sans Pro"/>
                <a:cs typeface="Segoe UI"/>
              </a:rPr>
              <a:t>Request 1:</a:t>
            </a:r>
            <a:r>
              <a:rPr lang="en-US" sz="2200" dirty="0">
                <a:latin typeface="Segoe UI"/>
                <a:ea typeface="Source Sans Pro"/>
                <a:cs typeface="Segoe UI"/>
              </a:rPr>
              <a:t> Move the WFP upload to the 2nd working day of the month.</a:t>
            </a:r>
          </a:p>
          <a:p>
            <a:pPr lvl="1"/>
            <a:r>
              <a:rPr lang="en-US" sz="2200" b="1" dirty="0">
                <a:latin typeface="Segoe UI"/>
                <a:ea typeface="Source Sans Pro"/>
                <a:cs typeface="Segoe UI"/>
              </a:rPr>
              <a:t>Request 2:</a:t>
            </a:r>
            <a:r>
              <a:rPr lang="en-US" sz="2200" dirty="0">
                <a:latin typeface="Segoe UI"/>
                <a:ea typeface="Source Sans Pro"/>
                <a:cs typeface="Segoe UI"/>
              </a:rPr>
              <a:t> Increase upload frequency from quarterly to monthly. This allows rapid adaptation to checklist changes and would enable </a:t>
            </a:r>
            <a:r>
              <a:rPr lang="en-US" sz="2200" dirty="0" err="1">
                <a:latin typeface="Segoe UI"/>
                <a:ea typeface="Source Sans Pro"/>
                <a:cs typeface="Segoe UI"/>
              </a:rPr>
              <a:t>MoDA</a:t>
            </a:r>
            <a:r>
              <a:rPr lang="en-US" sz="2200" dirty="0">
                <a:latin typeface="Segoe UI"/>
                <a:ea typeface="Source Sans Pro"/>
                <a:cs typeface="Segoe UI"/>
              </a:rPr>
              <a:t> data cross-verification with FMA activity logs.</a:t>
            </a:r>
          </a:p>
          <a:p>
            <a:pPr lvl="1"/>
            <a:r>
              <a:rPr lang="en-US" sz="2200" b="1" dirty="0">
                <a:latin typeface="Segoe UI"/>
                <a:ea typeface="Source Sans Pro"/>
                <a:cs typeface="Segoe UI"/>
              </a:rPr>
              <a:t>Suggestion:</a:t>
            </a:r>
            <a:r>
              <a:rPr lang="en-US" sz="2200" dirty="0">
                <a:latin typeface="Segoe UI"/>
                <a:ea typeface="Source Sans Pro"/>
                <a:cs typeface="Segoe UI"/>
              </a:rPr>
              <a:t> Can be complemented by dashboards to maximize utility.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5C49440-A730-0E36-7A6D-E0784A92DA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6B2AB2-6265-4A33-A62E-6921C5AD1A87}" type="slidenum">
              <a:rPr lang="de-DE" altLang="en-US" smtClean="0"/>
              <a:pPr/>
              <a:t>10</a:t>
            </a:fld>
            <a:endParaRPr lang="de-DE" alt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1F5B33D-A7CC-4027-E58C-248B6C01BCC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C4ED | Center for Evaluation and Development</a:t>
            </a:r>
          </a:p>
        </p:txBody>
      </p:sp>
    </p:spTree>
    <p:extLst>
      <p:ext uri="{BB962C8B-B14F-4D97-AF65-F5344CB8AC3E}">
        <p14:creationId xmlns:p14="http://schemas.microsoft.com/office/powerpoint/2010/main" val="16496712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4ED9B-2122-2CD4-AAE8-1009CDA75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5B3DE-817E-2E37-36C1-794DF4757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Coverage/data quality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13DB53-F6F0-76DE-9AC6-613239D2F3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6B2AB2-6265-4A33-A62E-6921C5AD1A87}" type="slidenum">
              <a:rPr lang="de-DE" altLang="en-US" smtClean="0"/>
              <a:pPr/>
              <a:t>11</a:t>
            </a:fld>
            <a:endParaRPr lang="de-DE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5E679A-B00F-AB96-61F7-EDBB1D6306D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C4ED | Center for Evaluation and Development</a:t>
            </a:r>
          </a:p>
        </p:txBody>
      </p:sp>
      <p:pic>
        <p:nvPicPr>
          <p:cNvPr id="6" name="Picture 5" descr="unnamed-chunk-6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133" y="1371600"/>
            <a:ext cx="5452533" cy="2560320"/>
          </a:xfrm>
          <a:prstGeom prst="rect">
            <a:avLst/>
          </a:prstGeom>
        </p:spPr>
      </p:pic>
      <p:pic>
        <p:nvPicPr>
          <p:cNvPr id="7" name="Picture 6" descr="unnamed-chunk-7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4853" y="1371600"/>
            <a:ext cx="5452533" cy="2560320"/>
          </a:xfrm>
          <a:prstGeom prst="rect">
            <a:avLst/>
          </a:prstGeom>
        </p:spPr>
      </p:pic>
      <p:pic>
        <p:nvPicPr>
          <p:cNvPr id="8" name="Picture 7" descr="unnamed-chunk-8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133" y="3931920"/>
            <a:ext cx="5452533" cy="2560320"/>
          </a:xfrm>
          <a:prstGeom prst="rect">
            <a:avLst/>
          </a:prstGeom>
        </p:spPr>
      </p:pic>
      <p:pic>
        <p:nvPicPr>
          <p:cNvPr id="9" name="Picture 8" descr="unnamed-chunk-9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4853" y="3931920"/>
            <a:ext cx="5452533" cy="256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1304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59CBD-BF49-9D77-B912-BDD76B344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88C93-FC34-931A-D675-2D92D073A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Staffing and deployment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6B1D1A-67CC-8BD7-EDD2-B823704383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6B2AB2-6265-4A33-A62E-6921C5AD1A87}" type="slidenum">
              <a:rPr lang="de-DE" altLang="en-US" smtClean="0"/>
              <a:pPr/>
              <a:t>12</a:t>
            </a:fld>
            <a:endParaRPr lang="de-DE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715CE2-65DE-29CB-B997-43286B809F7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C4ED | Center for Evaluation and Development</a:t>
            </a:r>
          </a:p>
        </p:txBody>
      </p:sp>
      <p:pic>
        <p:nvPicPr>
          <p:cNvPr id="6" name="Picture 5" descr="unnamed-chunk-13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43" y="1371600"/>
            <a:ext cx="10905066" cy="512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0140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2711B-DAA3-A7A2-D950-0D2ECC695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A7899-F707-8705-17FA-D40C4F64B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Training </a:t>
            </a:r>
            <a:r>
              <a:rPr lang="de-DE" err="1"/>
              <a:t>provided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803D5F-D913-509A-77F2-7ADCDF49AD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6B2AB2-6265-4A33-A62E-6921C5AD1A87}" type="slidenum">
              <a:rPr lang="de-DE" altLang="en-US" smtClean="0"/>
              <a:pPr/>
              <a:t>13</a:t>
            </a:fld>
            <a:endParaRPr lang="de-DE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7C649A-6B3F-BBA4-BC87-925D07AAEA8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C4ED | Center for Evaluation and Development</a:t>
            </a:r>
          </a:p>
        </p:txBody>
      </p:sp>
      <p:pic>
        <p:nvPicPr>
          <p:cNvPr id="6" name="Picture 5" descr="unnamed-chunk-14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43" y="1371600"/>
            <a:ext cx="10905066" cy="512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2767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A39DB-43E1-9BE1-D91F-3C8603C7E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CF7B3-4A22-88CB-9DB0-EF9983B62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Management/support </a:t>
            </a:r>
            <a:r>
              <a:rPr lang="de-DE" err="1"/>
              <a:t>staff</a:t>
            </a:r>
            <a:r>
              <a:rPr lang="de-DE"/>
              <a:t> </a:t>
            </a:r>
            <a:r>
              <a:rPr lang="de-DE" err="1"/>
              <a:t>travel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CF66BD-2712-CA64-4FE8-235FC887C1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6B2AB2-6265-4A33-A62E-6921C5AD1A87}" type="slidenum">
              <a:rPr lang="de-DE" altLang="en-US" smtClean="0"/>
              <a:pPr/>
              <a:t>14</a:t>
            </a:fld>
            <a:endParaRPr lang="de-DE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03ABE2-6720-EF90-D2D1-35E03138EE7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C4ED | Center for Evaluation and Development</a:t>
            </a:r>
          </a:p>
        </p:txBody>
      </p:sp>
      <p:pic>
        <p:nvPicPr>
          <p:cNvPr id="6" name="Picture 5" descr="unnamed-chunk-16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43" y="1371600"/>
            <a:ext cx="10905066" cy="512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1465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5E100-490B-70C5-9AB4-2713AB6EF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69022-B6DA-ABD9-EDBC-67B5F20BD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/>
              <a:t>Equipment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8DF24B-E20B-40F3-9BAC-5750B72160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6B2AB2-6265-4A33-A62E-6921C5AD1A87}" type="slidenum">
              <a:rPr lang="de-DE" altLang="en-US" smtClean="0"/>
              <a:pPr/>
              <a:t>15</a:t>
            </a:fld>
            <a:endParaRPr lang="de-DE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77B72C-281F-6400-CB8A-09112D444BC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C4ED | Center for Evaluation and Development</a:t>
            </a:r>
          </a:p>
        </p:txBody>
      </p:sp>
      <p:pic>
        <p:nvPicPr>
          <p:cNvPr id="6" name="Picture 5" descr="unnamed-chunk-17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43" y="1371600"/>
            <a:ext cx="10905066" cy="512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3707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5E100-490B-70C5-9AB4-2713AB6EF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69022-B6DA-ABD9-EDBC-67B5F20BD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/>
              <a:t>Equipment</a:t>
            </a:r>
            <a:r>
              <a:rPr lang="en-US"/>
              <a:t> (Vests)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9AB7AF8-FA01-DA9E-D55A-29E7298CCF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52500" y="1724025"/>
            <a:ext cx="9679214" cy="4355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8DF24B-E20B-40F3-9BAC-5750B72160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6B2AB2-6265-4A33-A62E-6921C5AD1A87}" type="slidenum">
              <a:rPr lang="de-DE" altLang="en-US" smtClean="0"/>
              <a:pPr/>
              <a:t>16</a:t>
            </a:fld>
            <a:endParaRPr lang="de-DE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77B72C-281F-6400-CB8A-09112D444BC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C4ED | Center for Evaluation and Development</a:t>
            </a:r>
          </a:p>
        </p:txBody>
      </p:sp>
    </p:spTree>
    <p:extLst>
      <p:ext uri="{BB962C8B-B14F-4D97-AF65-F5344CB8AC3E}">
        <p14:creationId xmlns:p14="http://schemas.microsoft.com/office/powerpoint/2010/main" val="19330127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1E857-1A70-5B75-38CC-7901568EC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0EE50-17C4-0BF1-9845-9E4C5CB70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Compliance review: WFP Anti-Fraud &amp; Anti-Corruption Policy (AFAC)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46E62-F09E-45B1-E0B3-8ACDC7B256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We maintain a zero-tolerance policy and strictly comply with WFP’s prohibitions against all Prohibited</a:t>
            </a:r>
            <a:r>
              <a:rPr lang="en-US" b="1"/>
              <a:t> </a:t>
            </a:r>
            <a:r>
              <a:rPr lang="en-US"/>
              <a:t>Practices:</a:t>
            </a:r>
          </a:p>
          <a:p>
            <a:r>
              <a:rPr lang="en-US" sz="2000" b="1"/>
              <a:t>Fraud, Corruption &amp; Theft:</a:t>
            </a:r>
            <a:r>
              <a:rPr lang="en-US" sz="2000"/>
              <a:t> No misrepresentation for financial/personal advantage, no offering or soliciting bribes to influence actions, and zero tolerance for unauthorized taking of property.</a:t>
            </a:r>
          </a:p>
          <a:p>
            <a:r>
              <a:rPr lang="en-US" sz="2000" b="1"/>
              <a:t>Collusive &amp; Coercive Practices:</a:t>
            </a:r>
            <a:r>
              <a:rPr lang="en-US" sz="2000"/>
              <a:t> No anti-competitive arrangements or improper behavior targeted at influencing WFP or other parties, and no use of threats, harm, or intimidation.</a:t>
            </a:r>
          </a:p>
          <a:p>
            <a:r>
              <a:rPr lang="en-US" sz="2000" b="1"/>
              <a:t>Obstructive Practices:</a:t>
            </a:r>
            <a:r>
              <a:rPr lang="en-US" sz="2000"/>
              <a:t> Full cooperation with official investigations - no destroying, altering, or concealing evidence, making false statements, or impeding WFP’s contractual access to information.</a:t>
            </a:r>
          </a:p>
          <a:p>
            <a:r>
              <a:rPr lang="en-US" sz="2000" b="1"/>
              <a:t>Financial Integrity:</a:t>
            </a:r>
            <a:r>
              <a:rPr lang="en-US" sz="2000"/>
              <a:t> Absolute prohibition of </a:t>
            </a:r>
            <a:r>
              <a:rPr lang="en-US" sz="2000" b="1"/>
              <a:t>Money Laundering</a:t>
            </a:r>
            <a:r>
              <a:rPr lang="en-US" sz="2000"/>
              <a:t> (concealing illicit funds) and the </a:t>
            </a:r>
            <a:r>
              <a:rPr lang="en-US" sz="2000" b="1"/>
              <a:t>Financing of Terrorism</a:t>
            </a:r>
            <a:r>
              <a:rPr lang="en-US" sz="2000"/>
              <a:t> (providing resources to any individuals or entities on the UN Security Council Consolidated List).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08CDCB-9589-61A1-F175-BC479B18E5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6B2AB2-6265-4A33-A62E-6921C5AD1A87}" type="slidenum">
              <a:rPr lang="de-DE" altLang="en-US" smtClean="0"/>
              <a:pPr/>
              <a:t>17</a:t>
            </a:fld>
            <a:endParaRPr lang="de-DE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0AA299-65A8-FB63-6EE5-6883CE25D1C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C4ED | Center for Evaluation and Development</a:t>
            </a:r>
          </a:p>
        </p:txBody>
      </p:sp>
    </p:spTree>
    <p:extLst>
      <p:ext uri="{BB962C8B-B14F-4D97-AF65-F5344CB8AC3E}">
        <p14:creationId xmlns:p14="http://schemas.microsoft.com/office/powerpoint/2010/main" val="38067655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A30CA-92E8-B4BF-0090-37C051C01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Compliance review: WFP Anti-Fraud &amp; Anti-Corruption Policy (AFAC)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E9D8C-263A-8A3B-F7CB-E06F601D85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err="1">
                <a:latin typeface="Segoe UI" panose="020B0502040204020203" pitchFamily="34" charset="0"/>
                <a:cs typeface="Segoe UI" panose="020B0502040204020203" pitchFamily="34" charset="0"/>
              </a:rPr>
              <a:t>Integrity</a:t>
            </a:r>
            <a:r>
              <a:rPr lang="de-DE" b="1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b="1" err="1">
                <a:latin typeface="Segoe UI" panose="020B0502040204020203" pitchFamily="34" charset="0"/>
                <a:cs typeface="Segoe UI" panose="020B0502040204020203" pitchFamily="34" charset="0"/>
              </a:rPr>
              <a:t>and</a:t>
            </a:r>
            <a:r>
              <a:rPr lang="de-DE" b="1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b="1" err="1">
                <a:latin typeface="Segoe UI" panose="020B0502040204020203" pitchFamily="34" charset="0"/>
                <a:cs typeface="Segoe UI" panose="020B0502040204020203" pitchFamily="34" charset="0"/>
              </a:rPr>
              <a:t>Accountability</a:t>
            </a:r>
            <a:r>
              <a:rPr lang="de-DE" b="1"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</a:p>
          <a:p>
            <a:pPr lvl="1"/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FMA (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few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)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claim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activity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despite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facts</a:t>
            </a:r>
            <a:endParaRPr lang="de-DE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Potential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issues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with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transport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 reimbursement and 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overnight </a:t>
            </a:r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per diem</a:t>
            </a:r>
            <a:endParaRPr lang="de-DE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In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case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of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dismissal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we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sometimes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face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issues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with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non-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returned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tablets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disciplinary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issues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and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legal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advisor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on HR)</a:t>
            </a:r>
          </a:p>
          <a:p>
            <a:r>
              <a:rPr lang="de-DE" b="1">
                <a:latin typeface="Segoe UI" panose="020B0502040204020203" pitchFamily="34" charset="0"/>
                <a:cs typeface="Segoe UI" panose="020B0502040204020203" pitchFamily="34" charset="0"/>
              </a:rPr>
              <a:t>Independence: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Rotation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enforced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−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to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keep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monitors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alerted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and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to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counter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the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risk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of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Corruption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and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Collusive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Practices</a:t>
            </a:r>
          </a:p>
          <a:p>
            <a:r>
              <a:rPr lang="de-DE" b="1">
                <a:latin typeface="Segoe UI" panose="020B0502040204020203" pitchFamily="34" charset="0"/>
                <a:cs typeface="Segoe UI" panose="020B0502040204020203" pitchFamily="34" charset="0"/>
              </a:rPr>
              <a:t>Professional </a:t>
            </a:r>
            <a:r>
              <a:rPr lang="de-DE" b="1" err="1">
                <a:latin typeface="Segoe UI" panose="020B0502040204020203" pitchFamily="34" charset="0"/>
                <a:cs typeface="Segoe UI" panose="020B0502040204020203" pitchFamily="34" charset="0"/>
              </a:rPr>
              <a:t>Skepticism</a:t>
            </a:r>
            <a:r>
              <a:rPr lang="de-DE" b="1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High due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to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large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volume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of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flagged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issues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absence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of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evidence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of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Obstructive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Practices)</a:t>
            </a:r>
          </a:p>
          <a:p>
            <a:r>
              <a:rPr lang="de-DE" b="1" err="1">
                <a:latin typeface="Segoe UI" panose="020B0502040204020203" pitchFamily="34" charset="0"/>
                <a:cs typeface="Segoe UI" panose="020B0502040204020203" pitchFamily="34" charset="0"/>
              </a:rPr>
              <a:t>Theft</a:t>
            </a:r>
            <a:r>
              <a:rPr lang="de-DE" b="1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For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example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consumption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of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WFP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nutrition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products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b="1">
                <a:latin typeface="Segoe UI" panose="020B0502040204020203" pitchFamily="34" charset="0"/>
                <a:cs typeface="Segoe UI" panose="020B0502040204020203" pitchFamily="34" charset="0"/>
              </a:rPr>
              <a:t>S</a:t>
            </a:r>
            <a:r>
              <a:rPr lang="de-DE" b="1" err="1">
                <a:latin typeface="Segoe UI" panose="020B0502040204020203" pitchFamily="34" charset="0"/>
                <a:cs typeface="Segoe UI" panose="020B0502040204020203" pitchFamily="34" charset="0"/>
              </a:rPr>
              <a:t>ensitization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of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monitors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through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training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and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clear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communication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by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Regional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and</a:t>
            </a:r>
            <a:r>
              <a:rPr lang="de-DE">
                <a:latin typeface="Segoe UI" panose="020B0502040204020203" pitchFamily="34" charset="0"/>
                <a:cs typeface="Segoe UI" panose="020B0502040204020203" pitchFamily="34" charset="0"/>
              </a:rPr>
              <a:t> Area Monitoring </a:t>
            </a:r>
            <a:r>
              <a:rPr lang="de-DE" err="1">
                <a:latin typeface="Segoe UI" panose="020B0502040204020203" pitchFamily="34" charset="0"/>
                <a:cs typeface="Segoe UI" panose="020B0502040204020203" pitchFamily="34" charset="0"/>
              </a:rPr>
              <a:t>Coordinators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48DD9-E997-60BF-EED8-AEA8FC9382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6B2AB2-6265-4A33-A62E-6921C5AD1A87}" type="slidenum">
              <a:rPr lang="de-DE" altLang="en-US" smtClean="0"/>
              <a:pPr/>
              <a:t>18</a:t>
            </a:fld>
            <a:endParaRPr lang="de-DE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8E2741-1F06-2B38-EEE1-948E67B61C2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C4ED | Center for Evaluation and Development</a:t>
            </a:r>
          </a:p>
        </p:txBody>
      </p:sp>
    </p:spTree>
    <p:extLst>
      <p:ext uri="{BB962C8B-B14F-4D97-AF65-F5344CB8AC3E}">
        <p14:creationId xmlns:p14="http://schemas.microsoft.com/office/powerpoint/2010/main" val="39990454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E768E-375C-767C-6554-9C16F68B1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46287-ECCF-FD83-43D5-189E02DCF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Compliance review: Prevention of Sexual Exploitation and Abuse (PSEA)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C233D-A3F1-8542-3C05-56E2DC056E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We strictly commit to WFP’s zero-tolerance policy regarding sexual exploitation and abuse, ensuring full alignment with UN standards and contractual mandates:</a:t>
            </a:r>
          </a:p>
          <a:p>
            <a:r>
              <a:rPr lang="en-US" sz="2200" b="1"/>
              <a:t>Internal Policies in Place:</a:t>
            </a:r>
            <a:r>
              <a:rPr lang="en-US" sz="2200"/>
              <a:t> We have established rigorous internal PSEA policies and behavioral standards matching the ethical expectations of WFP’s Code of Conduct.</a:t>
            </a:r>
          </a:p>
          <a:p>
            <a:r>
              <a:rPr lang="en-US" sz="2200" b="1"/>
              <a:t>Active Awareness Measures:</a:t>
            </a:r>
            <a:r>
              <a:rPr lang="en-US" sz="2200"/>
              <a:t> We undertake continuous organizational awareness training to ensure all personnel fully understand, prevent, and uphold these mandatory standards.</a:t>
            </a:r>
          </a:p>
          <a:p>
            <a:r>
              <a:rPr lang="en-US" sz="2200" b="1"/>
              <a:t>Accountability &amp; Action:</a:t>
            </a:r>
            <a:r>
              <a:rPr lang="en-US" sz="2200"/>
              <a:t> We maintain strict mechanisms to prevent misconduct, immediately investigate any allegations, and implement rapid corrective actions.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6D1555-50B4-A2DA-B99F-79A78926F0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6B2AB2-6265-4A33-A62E-6921C5AD1A87}" type="slidenum">
              <a:rPr lang="de-DE" altLang="en-US" smtClean="0"/>
              <a:pPr/>
              <a:t>19</a:t>
            </a:fld>
            <a:endParaRPr lang="de-DE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FAA1C9-B37A-864C-51D5-E8A33D1A07E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C4ED | Center for Evaluation and Development</a:t>
            </a:r>
          </a:p>
        </p:txBody>
      </p:sp>
    </p:spTree>
    <p:extLst>
      <p:ext uri="{BB962C8B-B14F-4D97-AF65-F5344CB8AC3E}">
        <p14:creationId xmlns:p14="http://schemas.microsoft.com/office/powerpoint/2010/main" val="19493717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329B7-9699-71D8-A5B1-700175177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E3EE9-B51F-DB55-E6DA-2B30386A1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Compliance review: Data protection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43F217-16B6-7C80-611F-56854377D4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We comply with all data processing, transmission, and privacy mandates as the Processor:</a:t>
            </a:r>
          </a:p>
          <a:p>
            <a:r>
              <a:rPr lang="en-US" sz="2000" b="1"/>
              <a:t>Authorized Processing &amp; Purpose:</a:t>
            </a:r>
            <a:r>
              <a:rPr lang="en-US" sz="2000"/>
              <a:t> We process Personal Data strictly under WFP’s written instructions, solely for agreed purposes, with no independent business use or proprietary claims.</a:t>
            </a:r>
          </a:p>
          <a:p>
            <a:r>
              <a:rPr lang="en-US" sz="2000" b="1"/>
              <a:t>Secure Data Transfer:</a:t>
            </a:r>
            <a:r>
              <a:rPr lang="en-US" sz="2000"/>
              <a:t> All data transfers utilize 128-bit AES encryption via secure email or SFTP using compliant formats (CSV, XML, JSON).</a:t>
            </a:r>
          </a:p>
          <a:p>
            <a:r>
              <a:rPr lang="en-US" sz="2000" b="1"/>
              <a:t>Operational Transparency &amp; Auditing:</a:t>
            </a:r>
            <a:r>
              <a:rPr lang="en-US" sz="2000"/>
              <a:t> We maintain a detailed record of all processing activities available for WFP review and will immediately flag any violating privacy rules.</a:t>
            </a:r>
          </a:p>
          <a:p>
            <a:r>
              <a:rPr lang="en-US" sz="2000" b="1"/>
              <a:t>Strict Third-Party Restrictions:</a:t>
            </a:r>
            <a:r>
              <a:rPr lang="en-US" sz="2000"/>
              <a:t> No data sharing or third-country/cloud transfers without explicit, prior written authorization from WFP.</a:t>
            </a:r>
          </a:p>
          <a:p>
            <a:r>
              <a:rPr lang="en-US" sz="2000" b="1"/>
              <a:t>90-Day Data Retention Limit:</a:t>
            </a:r>
            <a:r>
              <a:rPr lang="en-US" sz="2000"/>
              <a:t> All Personal Data are securely deleted/destroyed from all physical and digital systems within 90 days of acquisition (or upon request).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E0F3BA-4BF9-C8AF-5343-645753D4E6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6B2AB2-6265-4A33-A62E-6921C5AD1A87}" type="slidenum">
              <a:rPr lang="de-DE" altLang="en-US" smtClean="0"/>
              <a:pPr/>
              <a:t>20</a:t>
            </a:fld>
            <a:endParaRPr lang="de-DE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4A0466-5FA5-E9DE-7780-8CC83FB05FA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C4ED | Center for Evaluation and Development</a:t>
            </a:r>
          </a:p>
        </p:txBody>
      </p:sp>
    </p:spTree>
    <p:extLst>
      <p:ext uri="{BB962C8B-B14F-4D97-AF65-F5344CB8AC3E}">
        <p14:creationId xmlns:p14="http://schemas.microsoft.com/office/powerpoint/2010/main" val="15417181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1B48B-C217-AE42-A8F9-063C6EE32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25717-D7FA-793C-8097-B9E50D2B3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Compliance review: Information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908B3-DE00-0545-9CAB-A9C76B9114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We comply with all requirements of the WFP Information Security Policy as the Processor:</a:t>
            </a:r>
            <a:endParaRPr lang="en-US" sz="2000"/>
          </a:p>
          <a:p>
            <a:r>
              <a:rPr lang="en-US" sz="2000" b="1"/>
              <a:t>Security Framework:</a:t>
            </a:r>
            <a:r>
              <a:rPr lang="en-US" sz="2000"/>
              <a:t> Maintain an active information security program aligned with industry standards.</a:t>
            </a:r>
          </a:p>
          <a:p>
            <a:r>
              <a:rPr lang="en-US" sz="2000" b="1"/>
              <a:t>Data Protection &amp; Encryption:</a:t>
            </a:r>
            <a:r>
              <a:rPr lang="en-US" sz="2000"/>
              <a:t> Enforce full multifactor authentication (MFA), end-to-end encryption for all data (at rest, on mobile/storage devices, and in transit), and daily backups.</a:t>
            </a:r>
          </a:p>
          <a:p>
            <a:r>
              <a:rPr lang="en-US" sz="2000" b="1"/>
              <a:t>System Resilience:</a:t>
            </a:r>
            <a:r>
              <a:rPr lang="en-US" sz="2000"/>
              <a:t> Guarantee confidentiality, integrity, and availability with established protocols for regular testing, risk-based data governance, and rapid restoration in the event of an incident.</a:t>
            </a:r>
          </a:p>
          <a:p>
            <a:r>
              <a:rPr lang="en-US" sz="2000" b="1"/>
              <a:t>Access Control:</a:t>
            </a:r>
            <a:r>
              <a:rPr lang="en-US" sz="2000"/>
              <a:t> Maintain strict physical and logical access controls, including managed user lifecycles, administrative privilege tracking, and segregation of duties.</a:t>
            </a:r>
          </a:p>
          <a:p>
            <a:r>
              <a:rPr lang="en-US" sz="2000" b="1"/>
              <a:t>Audit &amp; Alignment:</a:t>
            </a:r>
            <a:r>
              <a:rPr lang="en-US" sz="2000"/>
              <a:t> Subject to WFP security reviews/audits and written approval for any core system changes.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69D690-D2D1-6ECA-2A9A-D6491A4F07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6B2AB2-6265-4A33-A62E-6921C5AD1A87}" type="slidenum">
              <a:rPr lang="de-DE" altLang="en-US" smtClean="0"/>
              <a:pPr/>
              <a:t>21</a:t>
            </a:fld>
            <a:endParaRPr lang="de-DE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7B7B90-E54F-A34A-B124-1D8B300926A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C4ED | Center for Evaluation and Development</a:t>
            </a:r>
          </a:p>
        </p:txBody>
      </p:sp>
    </p:spTree>
    <p:extLst>
      <p:ext uri="{BB962C8B-B14F-4D97-AF65-F5344CB8AC3E}">
        <p14:creationId xmlns:p14="http://schemas.microsoft.com/office/powerpoint/2010/main" val="38365935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AA1F0-5430-1A9A-A0C6-7F373542A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0F77A-2792-BBF2-99CA-88DA44C19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Budget review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98F9A0-E807-D331-7073-5F3B1EA9B0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6B2AB2-6265-4A33-A62E-6921C5AD1A87}" type="slidenum">
              <a:rPr lang="de-DE" altLang="en-US" smtClean="0"/>
              <a:pPr/>
              <a:t>22</a:t>
            </a:fld>
            <a:endParaRPr lang="de-DE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F82F3B-DC2A-3483-BEFA-A4E090DBEE3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C4ED | Center for Evaluation and Development</a:t>
            </a:r>
          </a:p>
        </p:txBody>
      </p:sp>
      <p:pic>
        <p:nvPicPr>
          <p:cNvPr id="6" name="Picture 5" descr="unnamed-chunk-2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43" y="1371600"/>
            <a:ext cx="10905066" cy="512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3989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718A8-7767-C161-EC2F-9A03C8B46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Finance review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B5B05C-4A66-9578-EAF0-92A7C058C1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6B2AB2-6265-4A33-A62E-6921C5AD1A87}" type="slidenum">
              <a:rPr lang="de-DE" altLang="en-US" smtClean="0"/>
              <a:pPr/>
              <a:t>23</a:t>
            </a:fld>
            <a:endParaRPr lang="de-DE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917079-3EBC-F1C3-9003-6F0E3C81458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C4ED | Center for Evaluation and Development</a:t>
            </a:r>
          </a:p>
        </p:txBody>
      </p:sp>
      <p:pic>
        <p:nvPicPr>
          <p:cNvPr id="6" name="Picture 5" descr="unnamed-chunk-23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43" y="1371600"/>
            <a:ext cx="10905066" cy="512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2379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8A7AF-0148-701E-7E16-26D6537AE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712297-80CC-FC44-8931-586A1B1AA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82714"/>
            <a:ext cx="10972800" cy="990600"/>
          </a:xfrm>
        </p:spPr>
        <p:txBody>
          <a:bodyPr>
            <a:normAutofit fontScale="90000"/>
          </a:bodyPr>
          <a:lstStyle/>
          <a:p>
            <a:r>
              <a:rPr lang="en-GB"/>
              <a:t>Budget review: Current pressures and cost drivers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DA0913D-458B-417D-28A4-8D15CBD8A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>
                <a:latin typeface="Segoe UI"/>
                <a:ea typeface="Source Sans Pro"/>
                <a:cs typeface="Segoe UI"/>
              </a:rPr>
              <a:t>Transportation &amp; Mobility:</a:t>
            </a:r>
            <a:r>
              <a:rPr lang="en-US" sz="2000">
                <a:latin typeface="Segoe UI"/>
                <a:ea typeface="Source Sans Pro"/>
                <a:cs typeface="Segoe UI"/>
              </a:rPr>
              <a:t> Rising fuel costs, local shortages, and regional transport constraints severely impact field efficiency. While (a limited number of) motorcycles assist monitor teams, current transportation provisions require a strategic review.</a:t>
            </a:r>
          </a:p>
          <a:p>
            <a:r>
              <a:rPr lang="en-US" sz="2000" b="1">
                <a:latin typeface="Segoe UI"/>
                <a:ea typeface="Source Sans Pro"/>
                <a:cs typeface="Segoe UI"/>
              </a:rPr>
              <a:t>DSA Alignment:</a:t>
            </a:r>
            <a:r>
              <a:rPr lang="en-US" sz="2000">
                <a:latin typeface="Segoe UI"/>
                <a:ea typeface="Source Sans Pro"/>
                <a:cs typeface="Segoe UI"/>
              </a:rPr>
              <a:t> Current overnight Daily Subsistence Allowance (DSA) rates are outdated and need adjustments to reflect the increased cost of living and prevailing regional market conditions.</a:t>
            </a:r>
          </a:p>
          <a:p>
            <a:r>
              <a:rPr lang="en-US" sz="2000" b="1">
                <a:latin typeface="Segoe UI"/>
                <a:ea typeface="Source Sans Pro"/>
                <a:cs typeface="Segoe UI"/>
              </a:rPr>
              <a:t>Compensation: </a:t>
            </a:r>
            <a:r>
              <a:rPr lang="en-US" sz="2000">
                <a:latin typeface="Segoe UI"/>
                <a:ea typeface="Source Sans Pro"/>
                <a:cs typeface="Segoe UI"/>
              </a:rPr>
              <a:t>Raised by TPM staff during trainings and review meetings, compensation packages are under pressure and need to be reviewed to ensure retention and motivation.</a:t>
            </a:r>
          </a:p>
          <a:p>
            <a:r>
              <a:rPr lang="en-US" sz="2000" b="1">
                <a:latin typeface="Segoe UI"/>
                <a:ea typeface="Source Sans Pro"/>
                <a:cs typeface="Segoe UI"/>
              </a:rPr>
              <a:t>Uneven/Expanded Scope:</a:t>
            </a:r>
            <a:r>
              <a:rPr lang="en-US" sz="2000">
                <a:latin typeface="Segoe UI"/>
                <a:ea typeface="Source Sans Pro"/>
                <a:cs typeface="Segoe UI"/>
              </a:rPr>
              <a:t> Originally budgeted for mostly process and basic output/outcome monitoring, monitors are managing complex tasks (Outcome Monitoring, PDM, Early Warning, and market assessments).</a:t>
            </a:r>
          </a:p>
          <a:p>
            <a:r>
              <a:rPr lang="en-US" sz="2000" b="1">
                <a:latin typeface="Segoe UI"/>
                <a:ea typeface="Source Sans Pro"/>
                <a:cs typeface="Segoe UI"/>
              </a:rPr>
              <a:t>Staff Capacity Deficits:</a:t>
            </a:r>
            <a:r>
              <a:rPr lang="en-US" sz="2000">
                <a:latin typeface="Segoe UI"/>
                <a:ea typeface="Source Sans Pro"/>
                <a:cs typeface="Segoe UI"/>
              </a:rPr>
              <a:t> In Tigray, insufficient staff due to the reduction from 23 to 15 FMAs. Currently, an overwhelming workload across multiple parallel surveys and process monitoring might compromise data quality and regional coverage.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10D14DD-3C80-FC1F-1562-C5BB0BFD82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6B2AB2-6265-4A33-A62E-6921C5AD1A87}" type="slidenum">
              <a:rPr lang="de-DE" altLang="en-US" smtClean="0"/>
              <a:pPr/>
              <a:t>24</a:t>
            </a:fld>
            <a:endParaRPr lang="de-DE" alt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65651B2-ACE0-A682-8A64-2D8C986324A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C4ED | Center for Evaluation and Development</a:t>
            </a:r>
          </a:p>
        </p:txBody>
      </p:sp>
    </p:spTree>
    <p:extLst>
      <p:ext uri="{BB962C8B-B14F-4D97-AF65-F5344CB8AC3E}">
        <p14:creationId xmlns:p14="http://schemas.microsoft.com/office/powerpoint/2010/main" val="39103007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A5993-3655-19F2-44C6-58B1A97B19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876800"/>
          </a:xfrm>
        </p:spPr>
        <p:txBody>
          <a:bodyPr/>
          <a:lstStyle/>
          <a:p>
            <a:pPr marL="0" indent="0">
              <a:buNone/>
            </a:pPr>
            <a:endParaRPr lang="en-DE"/>
          </a:p>
          <a:p>
            <a:pPr marL="0" indent="0">
              <a:buNone/>
            </a:pPr>
            <a:endParaRPr lang="en-DE"/>
          </a:p>
          <a:p>
            <a:pPr marL="0" indent="0">
              <a:buNone/>
            </a:pPr>
            <a:endParaRPr lang="en-DE"/>
          </a:p>
          <a:p>
            <a:pPr marL="0" indent="0" algn="ctr">
              <a:buNone/>
            </a:pPr>
            <a:r>
              <a:rPr lang="en-DE" sz="7200">
                <a:solidFill>
                  <a:schemeClr val="tx2"/>
                </a:solidFill>
              </a:rPr>
              <a:t>Thank you</a:t>
            </a:r>
            <a:endParaRPr lang="en-US" sz="720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0A512-2714-408E-80DB-D971464481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6B2AB2-6265-4A33-A62E-6921C5AD1A87}" type="slidenum">
              <a:rPr lang="de-DE" altLang="en-US" smtClean="0"/>
              <a:pPr/>
              <a:t>25</a:t>
            </a:fld>
            <a:endParaRPr lang="de-DE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805114-5CB3-F632-9E1B-1960BCA086E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C4ED | Center for Evaluation and Development</a:t>
            </a:r>
          </a:p>
        </p:txBody>
      </p:sp>
    </p:spTree>
    <p:extLst>
      <p:ext uri="{BB962C8B-B14F-4D97-AF65-F5344CB8AC3E}">
        <p14:creationId xmlns:p14="http://schemas.microsoft.com/office/powerpoint/2010/main" val="2372887439"/>
      </p:ext>
    </p:extLst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Post-Distribution Monitoring (PDM) deployments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unnamed-chunk-10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43" y="1371600"/>
            <a:ext cx="10905066" cy="5120640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Klarheit">
  <a:themeElements>
    <a:clrScheme name="Benutzerdefiniert 3">
      <a:dk1>
        <a:sysClr val="windowText" lastClr="000000"/>
      </a:dk1>
      <a:lt1>
        <a:sysClr val="window" lastClr="FFFFFF"/>
      </a:lt1>
      <a:dk2>
        <a:srgbClr val="047B77"/>
      </a:dk2>
      <a:lt2>
        <a:srgbClr val="FFB90C"/>
      </a:lt2>
      <a:accent1>
        <a:srgbClr val="047B77"/>
      </a:accent1>
      <a:accent2>
        <a:srgbClr val="21B2C8"/>
      </a:accent2>
      <a:accent3>
        <a:srgbClr val="B2E9F2"/>
      </a:accent3>
      <a:accent4>
        <a:srgbClr val="B2E9F2"/>
      </a:accent4>
      <a:accent5>
        <a:srgbClr val="B2E9F2"/>
      </a:accent5>
      <a:accent6>
        <a:srgbClr val="B2E9F2"/>
      </a:accent6>
      <a:hlink>
        <a:srgbClr val="04617B"/>
      </a:hlink>
      <a:folHlink>
        <a:srgbClr val="1E9EB3"/>
      </a:folHlink>
    </a:clrScheme>
    <a:fontScheme name="Larissa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Klarhei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C0EFE16C5685847AF53F415157196AB" ma:contentTypeVersion="10" ma:contentTypeDescription="Ein neues Dokument erstellen." ma:contentTypeScope="" ma:versionID="25e3ba501f4236ce3f30ac36e0670a7a">
  <xsd:schema xmlns:xsd="http://www.w3.org/2001/XMLSchema" xmlns:xs="http://www.w3.org/2001/XMLSchema" xmlns:p="http://schemas.microsoft.com/office/2006/metadata/properties" xmlns:ns2="f1b5c029-f99d-4007-83c8-e86a87dae2c0" xmlns:ns3="b1f2453e-b84f-40dd-ae62-17f8f59f3b8f" targetNamespace="http://schemas.microsoft.com/office/2006/metadata/properties" ma:root="true" ma:fieldsID="ba4304f73c53f4215cc939dedaa1b40a" ns2:_="" ns3:_="">
    <xsd:import namespace="f1b5c029-f99d-4007-83c8-e86a87dae2c0"/>
    <xsd:import namespace="b1f2453e-b84f-40dd-ae62-17f8f59f3b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b5c029-f99d-4007-83c8-e86a87dae2c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84c17363-a610-42c9-8908-09c0a1c7001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f2453e-b84f-40dd-ae62-17f8f59f3b8f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7aae5d4-8d43-46f0-bdf9-06d846eb2648}" ma:internalName="TaxCatchAll" ma:showField="CatchAllData" ma:web="b1f2453e-b84f-40dd-ae62-17f8f59f3b8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1b5c029-f99d-4007-83c8-e86a87dae2c0">
      <Terms xmlns="http://schemas.microsoft.com/office/infopath/2007/PartnerControls"/>
    </lcf76f155ced4ddcb4097134ff3c332f>
    <TaxCatchAll xmlns="b1f2453e-b84f-40dd-ae62-17f8f59f3b8f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1995A79-68D3-4252-AD9C-327732973C8F}">
  <ds:schemaRefs>
    <ds:schemaRef ds:uri="b1f2453e-b84f-40dd-ae62-17f8f59f3b8f"/>
    <ds:schemaRef ds:uri="f1b5c029-f99d-4007-83c8-e86a87dae2c0"/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6607D40-FD92-4790-B6B0-937B597933B1}">
  <ds:schemaRefs>
    <ds:schemaRef ds:uri="b1f2453e-b84f-40dd-ae62-17f8f59f3b8f"/>
    <ds:schemaRef ds:uri="f1b5c029-f99d-4007-83c8-e86a87dae2c0"/>
    <ds:schemaRef ds:uri="http://schemas.microsoft.com/office/2006/metadata/properties"/>
    <ds:schemaRef ds:uri="http://schemas.microsoft.com/office/infopath/2007/PartnerControls"/>
    <ds:schemaRef ds:uri="http://www.w3.org/2000/xmlns/"/>
    <ds:schemaRef ds:uri="http://www.w3.org/2001/XMLSchema-instance"/>
  </ds:schemaRefs>
</ds:datastoreItem>
</file>

<file path=customXml/itemProps3.xml><?xml version="1.0" encoding="utf-8"?>
<ds:datastoreItem xmlns:ds="http://schemas.openxmlformats.org/officeDocument/2006/customXml" ds:itemID="{7E227A2B-B7D7-424B-ACEE-2B95D768427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Words>1449</Words>
  <Application>Microsoft Office PowerPoint</Application>
  <PresentationFormat>Widescreen</PresentationFormat>
  <Paragraphs>166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Arial</vt:lpstr>
      <vt:lpstr>Calibri</vt:lpstr>
      <vt:lpstr>Cambria</vt:lpstr>
      <vt:lpstr>Century Gothic</vt:lpstr>
      <vt:lpstr>Segoe UI</vt:lpstr>
      <vt:lpstr>Segoe UI Symbol</vt:lpstr>
      <vt:lpstr>Source Sans Pro</vt:lpstr>
      <vt:lpstr>Wingdings</vt:lpstr>
      <vt:lpstr>Klarheit</vt:lpstr>
      <vt:lpstr>Annual TPM Performance Review  14 July 2026</vt:lpstr>
      <vt:lpstr>Agenda </vt:lpstr>
      <vt:lpstr>PowerPoint Presentation</vt:lpstr>
      <vt:lpstr>Introduction: The TPM Assignment at a Glance</vt:lpstr>
      <vt:lpstr>Year 1 at a Glance</vt:lpstr>
      <vt:lpstr>Monthly monitoring plans</vt:lpstr>
      <vt:lpstr>Weekly hot button/flash reports</vt:lpstr>
      <vt:lpstr>Monthly narrative and expenditure reports</vt:lpstr>
      <vt:lpstr>Process and outcome monitoring reports</vt:lpstr>
      <vt:lpstr>Review of reporting processes</vt:lpstr>
      <vt:lpstr>Coverage/data quality</vt:lpstr>
      <vt:lpstr>Staffing and deployment</vt:lpstr>
      <vt:lpstr>Training provided</vt:lpstr>
      <vt:lpstr>Management/support staff travel</vt:lpstr>
      <vt:lpstr>Equipment</vt:lpstr>
      <vt:lpstr>Equipment (Vests)</vt:lpstr>
      <vt:lpstr>Compliance review: WFP Anti-Fraud &amp; Anti-Corruption Policy (AFAC)</vt:lpstr>
      <vt:lpstr>Compliance review: WFP Anti-Fraud &amp; Anti-Corruption Policy (AFAC)</vt:lpstr>
      <vt:lpstr>Compliance review: Prevention of Sexual Exploitation and Abuse (PSEA)</vt:lpstr>
      <vt:lpstr>Compliance review: Data protection</vt:lpstr>
      <vt:lpstr>Compliance review: Information security</vt:lpstr>
      <vt:lpstr>Budget review</vt:lpstr>
      <vt:lpstr>Finance review</vt:lpstr>
      <vt:lpstr>Budget review: Current pressures and cost drivers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cbarras</dc:creator>
  <cp:lastModifiedBy>Yebelay Berehan</cp:lastModifiedBy>
  <cp:revision>3</cp:revision>
  <dcterms:created xsi:type="dcterms:W3CDTF">1601-01-01T00:00:00Z</dcterms:created>
  <dcterms:modified xsi:type="dcterms:W3CDTF">2026-07-13T14:40:41Z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0x010100CC0EFE16C5685847AF53F415157196AB</vt:lpwstr>
  </property>
  <property fmtid="{D5CDD505-2E9C-101B-9397-08002B2CF9AE}" pid="3" name="MediaServiceImageTags">
    <vt:lpwstr/>
  </property>
</Properties>
</file>